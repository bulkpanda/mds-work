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  <p:sldId id="266" r:id="rId12"/>
    <p:sldId id="268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49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I am very satisfied with my decision to become a </a:t>
            </a:r>
            <a:r>
              <a:rPr lang="en-US" err="1"/>
              <a:t>paediatric</a:t>
            </a:r>
            <a:r>
              <a:rPr lang="en-US"/>
              <a:t> dentist</a:t>
            </a:r>
            <a:endParaRPr lang="en-AU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AU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Strongly disagree</c:v>
                </c:pt>
                <c:pt idx="1">
                  <c:v>Somewhat disagree</c:v>
                </c:pt>
                <c:pt idx="2">
                  <c:v>Neither agree
or disagree</c:v>
                </c:pt>
                <c:pt idx="3">
                  <c:v>Somewhat agree</c:v>
                </c:pt>
                <c:pt idx="4">
                  <c:v>Strongly agree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C6B-47F0-ADB9-155575395A4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Strongly disagree</c:v>
                </c:pt>
                <c:pt idx="1">
                  <c:v>Somewhat disagree</c:v>
                </c:pt>
                <c:pt idx="2">
                  <c:v>Neither agree
or disagree</c:v>
                </c:pt>
                <c:pt idx="3">
                  <c:v>Somewhat agree</c:v>
                </c:pt>
                <c:pt idx="4">
                  <c:v>Strongly agree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1-1C6B-47F0-ADB9-155575395A4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Column2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Strongly disagree</c:v>
                </c:pt>
                <c:pt idx="1">
                  <c:v>Somewhat disagree</c:v>
                </c:pt>
                <c:pt idx="2">
                  <c:v>Neither agree
or disagree</c:v>
                </c:pt>
                <c:pt idx="3">
                  <c:v>Somewhat agree</c:v>
                </c:pt>
                <c:pt idx="4">
                  <c:v>Strongly agree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2-1C6B-47F0-ADB9-155575395A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47787071"/>
        <c:axId val="147788991"/>
      </c:barChart>
      <c:catAx>
        <c:axId val="14778707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7788991"/>
        <c:crosses val="autoZero"/>
        <c:auto val="1"/>
        <c:lblAlgn val="ctr"/>
        <c:lblOffset val="100"/>
        <c:noMultiLvlLbl val="0"/>
      </c:catAx>
      <c:valAx>
        <c:axId val="14778899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AU" dirty="0"/>
                  <a:t>%age responses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77870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When considering the clinical competencies I was required to achieve, I believe I was clinically competent and ready for independent practice when I graduated</a:t>
            </a:r>
            <a:endParaRPr lang="en-AU"/>
          </a:p>
        </c:rich>
      </c:tx>
      <c:layout>
        <c:manualLayout>
          <c:xMode val="edge"/>
          <c:yMode val="edge"/>
          <c:x val="0.10784149316672795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AU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Strongly disagree</c:v>
                </c:pt>
                <c:pt idx="1">
                  <c:v>Somewhat disagree</c:v>
                </c:pt>
                <c:pt idx="2">
                  <c:v>Neither agree
or disagree</c:v>
                </c:pt>
                <c:pt idx="3">
                  <c:v>Somewhat agree</c:v>
                </c:pt>
                <c:pt idx="4">
                  <c:v>Strongly agree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C9B-4603-8460-120CDA1B8C3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Strongly disagree</c:v>
                </c:pt>
                <c:pt idx="1">
                  <c:v>Somewhat disagree</c:v>
                </c:pt>
                <c:pt idx="2">
                  <c:v>Neither agree
or disagree</c:v>
                </c:pt>
                <c:pt idx="3">
                  <c:v>Somewhat agree</c:v>
                </c:pt>
                <c:pt idx="4">
                  <c:v>Strongly agree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1-2C9B-4603-8460-120CDA1B8C3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Column2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Strongly disagree</c:v>
                </c:pt>
                <c:pt idx="1">
                  <c:v>Somewhat disagree</c:v>
                </c:pt>
                <c:pt idx="2">
                  <c:v>Neither agree
or disagree</c:v>
                </c:pt>
                <c:pt idx="3">
                  <c:v>Somewhat agree</c:v>
                </c:pt>
                <c:pt idx="4">
                  <c:v>Strongly agree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2-2C9B-4603-8460-120CDA1B8C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47787071"/>
        <c:axId val="147788991"/>
      </c:barChart>
      <c:catAx>
        <c:axId val="14778707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7788991"/>
        <c:crosses val="autoZero"/>
        <c:auto val="1"/>
        <c:lblAlgn val="ctr"/>
        <c:lblOffset val="100"/>
        <c:noMultiLvlLbl val="0"/>
      </c:catAx>
      <c:valAx>
        <c:axId val="14778899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%age</a:t>
                </a:r>
                <a:r>
                  <a:rPr lang="en-US" baseline="0" dirty="0"/>
                  <a:t> responses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77870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My experience in research methodology strengthened my ability to critically analyze current literature</a:t>
            </a:r>
            <a:endParaRPr lang="en-AU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AU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Strongly disagree</c:v>
                </c:pt>
                <c:pt idx="1">
                  <c:v>Somewhat disagree</c:v>
                </c:pt>
                <c:pt idx="2">
                  <c:v>Neither agree
or disagree</c:v>
                </c:pt>
                <c:pt idx="3">
                  <c:v>Somewhat agree</c:v>
                </c:pt>
                <c:pt idx="4">
                  <c:v>Strongly agree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EF-4000-B680-1EC340CC37B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Strongly disagree</c:v>
                </c:pt>
                <c:pt idx="1">
                  <c:v>Somewhat disagree</c:v>
                </c:pt>
                <c:pt idx="2">
                  <c:v>Neither agree
or disagree</c:v>
                </c:pt>
                <c:pt idx="3">
                  <c:v>Somewhat agree</c:v>
                </c:pt>
                <c:pt idx="4">
                  <c:v>Strongly agree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1-15EF-4000-B680-1EC340CC37B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Column2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Strongly disagree</c:v>
                </c:pt>
                <c:pt idx="1">
                  <c:v>Somewhat disagree</c:v>
                </c:pt>
                <c:pt idx="2">
                  <c:v>Neither agree
or disagree</c:v>
                </c:pt>
                <c:pt idx="3">
                  <c:v>Somewhat agree</c:v>
                </c:pt>
                <c:pt idx="4">
                  <c:v>Strongly agree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2-15EF-4000-B680-1EC340CC37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47787071"/>
        <c:axId val="147788991"/>
      </c:barChart>
      <c:catAx>
        <c:axId val="14778707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7788991"/>
        <c:crosses val="autoZero"/>
        <c:auto val="1"/>
        <c:lblAlgn val="ctr"/>
        <c:lblOffset val="100"/>
        <c:noMultiLvlLbl val="0"/>
      </c:catAx>
      <c:valAx>
        <c:axId val="14778899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%age</a:t>
                </a:r>
                <a:r>
                  <a:rPr lang="en-US" baseline="0" dirty="0"/>
                  <a:t> responses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77870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dirty="0">
                <a:effectLst/>
              </a:rPr>
              <a:t>The research I conducted has been published in a peer-reviewed journal or presented at an international conference</a:t>
            </a:r>
            <a:endParaRPr lang="en-AU" dirty="0"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AU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No and no current plans to do so</c:v>
                </c:pt>
                <c:pt idx="1">
                  <c:v>Not yet but planning to</c:v>
                </c:pt>
                <c:pt idx="2">
                  <c:v>Yes - both published and/or presented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63-4CF0-92DD-5813DEFFCE4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No and no current plans to do so</c:v>
                </c:pt>
                <c:pt idx="1">
                  <c:v>Not yet but planning to</c:v>
                </c:pt>
                <c:pt idx="2">
                  <c:v>Yes - both published and/or presented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</c:numCache>
            </c:numRef>
          </c:val>
          <c:extLst>
            <c:ext xmlns:c16="http://schemas.microsoft.com/office/drawing/2014/chart" uri="{C3380CC4-5D6E-409C-BE32-E72D297353CC}">
              <c16:uniqueId val="{00000001-B263-4CF0-92DD-5813DEFFCE4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Column2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No and no current plans to do so</c:v>
                </c:pt>
                <c:pt idx="1">
                  <c:v>Not yet but planning to</c:v>
                </c:pt>
                <c:pt idx="2">
                  <c:v>Yes - both published and/or presented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</c:numCache>
            </c:numRef>
          </c:val>
          <c:extLst>
            <c:ext xmlns:c16="http://schemas.microsoft.com/office/drawing/2014/chart" uri="{C3380CC4-5D6E-409C-BE32-E72D297353CC}">
              <c16:uniqueId val="{00000002-B263-4CF0-92DD-5813DEFFCE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47787071"/>
        <c:axId val="147788991"/>
      </c:barChart>
      <c:catAx>
        <c:axId val="14778707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7788991"/>
        <c:crosses val="autoZero"/>
        <c:auto val="1"/>
        <c:lblAlgn val="ctr"/>
        <c:lblOffset val="100"/>
        <c:noMultiLvlLbl val="0"/>
      </c:catAx>
      <c:valAx>
        <c:axId val="14778899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%age</a:t>
                </a:r>
                <a:r>
                  <a:rPr lang="en-US" baseline="0" dirty="0"/>
                  <a:t> responses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77870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The time spent in clinical, didactic, teaching and research activities was about right</a:t>
            </a:r>
            <a:endParaRPr lang="en-AU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AU"/>
        </a:p>
      </c:txPr>
    </c:title>
    <c:autoTitleDeleted val="0"/>
    <c:plotArea>
      <c:layout>
        <c:manualLayout>
          <c:layoutTarget val="inner"/>
          <c:xMode val="edge"/>
          <c:yMode val="edge"/>
          <c:x val="0.17607731893154485"/>
          <c:y val="0.19208096856787779"/>
          <c:w val="0.79271540968301091"/>
          <c:h val="0.6549079820918443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Strongly disagree</c:v>
                </c:pt>
                <c:pt idx="1">
                  <c:v>Somewhat disagree</c:v>
                </c:pt>
                <c:pt idx="2">
                  <c:v>Neither agree
or disagree</c:v>
                </c:pt>
                <c:pt idx="3">
                  <c:v>Somewhat agree</c:v>
                </c:pt>
                <c:pt idx="4">
                  <c:v>Strongly agree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100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E73-4DD7-9A9E-53260A09AA0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Strongly disagree</c:v>
                </c:pt>
                <c:pt idx="1">
                  <c:v>Somewhat disagree</c:v>
                </c:pt>
                <c:pt idx="2">
                  <c:v>Neither agree
or disagree</c:v>
                </c:pt>
                <c:pt idx="3">
                  <c:v>Somewhat agree</c:v>
                </c:pt>
                <c:pt idx="4">
                  <c:v>Strongly agree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1-8E73-4DD7-9A9E-53260A09AA0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Column2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Strongly disagree</c:v>
                </c:pt>
                <c:pt idx="1">
                  <c:v>Somewhat disagree</c:v>
                </c:pt>
                <c:pt idx="2">
                  <c:v>Neither agree
or disagree</c:v>
                </c:pt>
                <c:pt idx="3">
                  <c:v>Somewhat agree</c:v>
                </c:pt>
                <c:pt idx="4">
                  <c:v>Strongly agree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2-8E73-4DD7-9A9E-53260A09AA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47787071"/>
        <c:axId val="147788991"/>
      </c:barChart>
      <c:catAx>
        <c:axId val="14778707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7788991"/>
        <c:crosses val="autoZero"/>
        <c:auto val="1"/>
        <c:lblAlgn val="ctr"/>
        <c:lblOffset val="100"/>
        <c:noMultiLvlLbl val="0"/>
      </c:catAx>
      <c:valAx>
        <c:axId val="14778899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AU" dirty="0"/>
                  <a:t>% responses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77870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The program overall prepared me well for my current position</a:t>
            </a:r>
            <a:endParaRPr lang="en-AU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AU"/>
        </a:p>
      </c:txPr>
    </c:title>
    <c:autoTitleDeleted val="0"/>
    <c:plotArea>
      <c:layout>
        <c:manualLayout>
          <c:layoutTarget val="inner"/>
          <c:xMode val="edge"/>
          <c:yMode val="edge"/>
          <c:x val="0.17607731893154485"/>
          <c:y val="0.19208096856787779"/>
          <c:w val="0.79271540968301091"/>
          <c:h val="0.6549079820918443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Strongly disagree</c:v>
                </c:pt>
                <c:pt idx="1">
                  <c:v>Somewhat disagree</c:v>
                </c:pt>
                <c:pt idx="2">
                  <c:v>Neither agree
or disagree</c:v>
                </c:pt>
                <c:pt idx="3">
                  <c:v>Somewhat agree</c:v>
                </c:pt>
                <c:pt idx="4">
                  <c:v>Strongly agree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100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B36-4EBF-9F70-C9DCECB1F21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Strongly disagree</c:v>
                </c:pt>
                <c:pt idx="1">
                  <c:v>Somewhat disagree</c:v>
                </c:pt>
                <c:pt idx="2">
                  <c:v>Neither agree
or disagree</c:v>
                </c:pt>
                <c:pt idx="3">
                  <c:v>Somewhat agree</c:v>
                </c:pt>
                <c:pt idx="4">
                  <c:v>Strongly agree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1-2B36-4EBF-9F70-C9DCECB1F21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Column2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Strongly disagree</c:v>
                </c:pt>
                <c:pt idx="1">
                  <c:v>Somewhat disagree</c:v>
                </c:pt>
                <c:pt idx="2">
                  <c:v>Neither agree
or disagree</c:v>
                </c:pt>
                <c:pt idx="3">
                  <c:v>Somewhat agree</c:v>
                </c:pt>
                <c:pt idx="4">
                  <c:v>Strongly agree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2-2B36-4EBF-9F70-C9DCECB1F2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47787071"/>
        <c:axId val="147788991"/>
      </c:barChart>
      <c:catAx>
        <c:axId val="14778707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7788991"/>
        <c:crosses val="autoZero"/>
        <c:auto val="1"/>
        <c:lblAlgn val="ctr"/>
        <c:lblOffset val="100"/>
        <c:noMultiLvlLbl val="0"/>
      </c:catAx>
      <c:valAx>
        <c:axId val="14778899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AU" dirty="0"/>
                  <a:t>% responses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77870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I am very satisfied with my experience at the University of Melbourne and would recommend the program to others pursuing specialty training in </a:t>
            </a:r>
            <a:r>
              <a:rPr lang="en-US" dirty="0" err="1"/>
              <a:t>Paediatric</a:t>
            </a:r>
            <a:r>
              <a:rPr lang="en-US" dirty="0"/>
              <a:t> Dentistry</a:t>
            </a:r>
            <a:endParaRPr lang="en-AU" dirty="0"/>
          </a:p>
        </c:rich>
      </c:tx>
      <c:layout>
        <c:manualLayout>
          <c:xMode val="edge"/>
          <c:yMode val="edge"/>
          <c:x val="0.10340442404807845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AU"/>
        </a:p>
      </c:txPr>
    </c:title>
    <c:autoTitleDeleted val="0"/>
    <c:plotArea>
      <c:layout>
        <c:manualLayout>
          <c:layoutTarget val="inner"/>
          <c:xMode val="edge"/>
          <c:yMode val="edge"/>
          <c:x val="0.17607731893154485"/>
          <c:y val="0.19208096856787779"/>
          <c:w val="0.79271540968301091"/>
          <c:h val="0.6549079820918443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Strongly disagree</c:v>
                </c:pt>
                <c:pt idx="1">
                  <c:v>Somewhat disagree</c:v>
                </c:pt>
                <c:pt idx="2">
                  <c:v>Neither agree
or disagree</c:v>
                </c:pt>
                <c:pt idx="3">
                  <c:v>Somewhat agree</c:v>
                </c:pt>
                <c:pt idx="4">
                  <c:v>Strongly agree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100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F9C-4303-BF82-AE710E989F1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Strongly disagree</c:v>
                </c:pt>
                <c:pt idx="1">
                  <c:v>Somewhat disagree</c:v>
                </c:pt>
                <c:pt idx="2">
                  <c:v>Neither agree
or disagree</c:v>
                </c:pt>
                <c:pt idx="3">
                  <c:v>Somewhat agree</c:v>
                </c:pt>
                <c:pt idx="4">
                  <c:v>Strongly agree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1-BF9C-4303-BF82-AE710E989F1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Column2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Strongly disagree</c:v>
                </c:pt>
                <c:pt idx="1">
                  <c:v>Somewhat disagree</c:v>
                </c:pt>
                <c:pt idx="2">
                  <c:v>Neither agree
or disagree</c:v>
                </c:pt>
                <c:pt idx="3">
                  <c:v>Somewhat agree</c:v>
                </c:pt>
                <c:pt idx="4">
                  <c:v>Strongly agree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2-BF9C-4303-BF82-AE710E989F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47787071"/>
        <c:axId val="147788991"/>
      </c:barChart>
      <c:catAx>
        <c:axId val="14778707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7788991"/>
        <c:crosses val="autoZero"/>
        <c:auto val="1"/>
        <c:lblAlgn val="ctr"/>
        <c:lblOffset val="100"/>
        <c:noMultiLvlLbl val="0"/>
      </c:catAx>
      <c:valAx>
        <c:axId val="14778899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AU" dirty="0"/>
                  <a:t>% responses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77870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I feel connected to the Melbourne Dental School and the University of Melbourne</a:t>
            </a:r>
            <a:endParaRPr lang="en-AU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AU"/>
        </a:p>
      </c:txPr>
    </c:title>
    <c:autoTitleDeleted val="0"/>
    <c:plotArea>
      <c:layout>
        <c:manualLayout>
          <c:layoutTarget val="inner"/>
          <c:xMode val="edge"/>
          <c:yMode val="edge"/>
          <c:x val="0.17607731893154485"/>
          <c:y val="0.19208096856787779"/>
          <c:w val="0.79271540968301091"/>
          <c:h val="0.6549079820918443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Strongly disagree</c:v>
                </c:pt>
                <c:pt idx="1">
                  <c:v>Somewhat disagree</c:v>
                </c:pt>
                <c:pt idx="2">
                  <c:v>Neither agree
or disagree</c:v>
                </c:pt>
                <c:pt idx="3">
                  <c:v>Somewhat agree</c:v>
                </c:pt>
                <c:pt idx="4">
                  <c:v>Strongly agree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393-41F5-BD8E-731FBE3666D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Strongly disagree</c:v>
                </c:pt>
                <c:pt idx="1">
                  <c:v>Somewhat disagree</c:v>
                </c:pt>
                <c:pt idx="2">
                  <c:v>Neither agree
or disagree</c:v>
                </c:pt>
                <c:pt idx="3">
                  <c:v>Somewhat agree</c:v>
                </c:pt>
                <c:pt idx="4">
                  <c:v>Strongly agree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1-C393-41F5-BD8E-731FBE3666D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Column2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Strongly disagree</c:v>
                </c:pt>
                <c:pt idx="1">
                  <c:v>Somewhat disagree</c:v>
                </c:pt>
                <c:pt idx="2">
                  <c:v>Neither agree
or disagree</c:v>
                </c:pt>
                <c:pt idx="3">
                  <c:v>Somewhat agree</c:v>
                </c:pt>
                <c:pt idx="4">
                  <c:v>Strongly agree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2-C393-41F5-BD8E-731FBE3666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47787071"/>
        <c:axId val="147788991"/>
      </c:barChart>
      <c:catAx>
        <c:axId val="14778707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7788991"/>
        <c:crosses val="autoZero"/>
        <c:auto val="1"/>
        <c:lblAlgn val="ctr"/>
        <c:lblOffset val="100"/>
        <c:noMultiLvlLbl val="0"/>
      </c:catAx>
      <c:valAx>
        <c:axId val="14778899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AU" dirty="0"/>
                  <a:t>% responses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77870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Alumni Survey</a:t>
            </a:r>
            <a:r>
              <a:rPr lang="en-US" dirty="0"/>
              <a:t> - 2024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rgbClr val="7F7F7F"/>
                </a:solidFill>
                <a:latin typeface="Helvetica" pitchFamily="34" charset="0"/>
                <a:cs typeface="Helvetica" pitchFamily="34" charset="0"/>
              </a:rPr>
              <a:t>DCD </a:t>
            </a:r>
            <a:r>
              <a:rPr lang="en-US" dirty="0" err="1">
                <a:solidFill>
                  <a:srgbClr val="7F7F7F"/>
                </a:solidFill>
                <a:latin typeface="Helvetica" pitchFamily="34" charset="0"/>
                <a:cs typeface="Helvetica" pitchFamily="34" charset="0"/>
              </a:rPr>
              <a:t>Paediatric</a:t>
            </a:r>
            <a:r>
              <a:rPr lang="en-US" dirty="0">
                <a:solidFill>
                  <a:srgbClr val="7F7F7F"/>
                </a:solidFill>
                <a:latin typeface="Helvetica" pitchFamily="34" charset="0"/>
                <a:cs typeface="Helvetica" pitchFamily="34" charset="0"/>
              </a:rPr>
              <a:t> Dentistry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>
            <a:normAutofit/>
          </a:bodyPr>
          <a:lstStyle/>
          <a:p>
            <a:r>
              <a:rPr lang="en-AU" sz="2800">
                <a:solidFill>
                  <a:schemeClr val="bg1"/>
                </a:solidFill>
              </a:rPr>
              <a:t>Career satisfaction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E0C9D43C-EACF-04FD-073D-88A69273DF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28922676"/>
              </p:ext>
            </p:extLst>
          </p:nvPr>
        </p:nvGraphicFramePr>
        <p:xfrm>
          <a:off x="482600" y="1675227"/>
          <a:ext cx="8178799" cy="43941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>
            <a:normAutofit/>
          </a:bodyPr>
          <a:lstStyle/>
          <a:p>
            <a:r>
              <a:rPr lang="en-AU" sz="2800">
                <a:solidFill>
                  <a:schemeClr val="bg1"/>
                </a:solidFill>
              </a:rPr>
              <a:t>Clinically ready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38E8C188-4B97-8875-8B74-A789459344C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82467516"/>
              </p:ext>
            </p:extLst>
          </p:nvPr>
        </p:nvGraphicFramePr>
        <p:xfrm>
          <a:off x="482600" y="1675227"/>
          <a:ext cx="8178799" cy="43941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>
            <a:normAutofit/>
          </a:bodyPr>
          <a:lstStyle/>
          <a:p>
            <a:r>
              <a:rPr lang="en-AU" sz="2800" dirty="0">
                <a:solidFill>
                  <a:schemeClr val="bg1"/>
                </a:solidFill>
              </a:rPr>
              <a:t>Critical analysis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74864F40-F489-0696-4DFD-7D98FB228B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51089505"/>
              </p:ext>
            </p:extLst>
          </p:nvPr>
        </p:nvGraphicFramePr>
        <p:xfrm>
          <a:off x="482600" y="1675227"/>
          <a:ext cx="8178799" cy="43941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>
            <a:normAutofit/>
          </a:bodyPr>
          <a:lstStyle/>
          <a:p>
            <a:r>
              <a:rPr lang="en-AU" sz="2800">
                <a:solidFill>
                  <a:schemeClr val="bg1"/>
                </a:solidFill>
              </a:rPr>
              <a:t>Research outputs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A149112D-C585-3810-2F04-2263E69CE7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3360679"/>
              </p:ext>
            </p:extLst>
          </p:nvPr>
        </p:nvGraphicFramePr>
        <p:xfrm>
          <a:off x="482600" y="1675227"/>
          <a:ext cx="8178799" cy="43941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>
            <a:normAutofit/>
          </a:bodyPr>
          <a:lstStyle/>
          <a:p>
            <a:r>
              <a:rPr lang="en-AU" sz="2800" dirty="0">
                <a:solidFill>
                  <a:schemeClr val="bg1"/>
                </a:solidFill>
              </a:rPr>
              <a:t>Time allocation appropriate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D50FC620-E69F-FA9B-06F6-1574826022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66924344"/>
              </p:ext>
            </p:extLst>
          </p:nvPr>
        </p:nvGraphicFramePr>
        <p:xfrm>
          <a:off x="482600" y="1675227"/>
          <a:ext cx="8178799" cy="43941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>
            <a:normAutofit/>
          </a:bodyPr>
          <a:lstStyle/>
          <a:p>
            <a:r>
              <a:rPr lang="en-AU" sz="2800" dirty="0">
                <a:solidFill>
                  <a:schemeClr val="bg1"/>
                </a:solidFill>
              </a:rPr>
              <a:t>Program preparation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5D63B7CD-D702-EE8F-6F67-811BA10595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66920464"/>
              </p:ext>
            </p:extLst>
          </p:nvPr>
        </p:nvGraphicFramePr>
        <p:xfrm>
          <a:off x="482600" y="1675227"/>
          <a:ext cx="8178799" cy="43941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392C13-339A-9F8E-4FD3-9D14A3F2B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EE6566-1A3D-6C24-C83B-F9A56EAFC0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637C1B-F4E1-3210-F186-3E83D3E8C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>
            <a:normAutofit/>
          </a:bodyPr>
          <a:lstStyle/>
          <a:p>
            <a:r>
              <a:rPr lang="en-AU" sz="2800" dirty="0">
                <a:solidFill>
                  <a:schemeClr val="bg1"/>
                </a:solidFill>
              </a:rPr>
              <a:t>Program preparation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9CF1CD-1752-4D1C-D66B-AF3FF71E1E44}"/>
              </a:ext>
            </a:extLst>
          </p:cNvPr>
          <p:cNvSpPr txBox="1"/>
          <p:nvPr/>
        </p:nvSpPr>
        <p:spPr>
          <a:xfrm>
            <a:off x="417398" y="1631469"/>
            <a:ext cx="737597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400" dirty="0"/>
              <a:t>How could the program have better prepared you for your current position?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6479C9-A1FA-7E9E-35F9-E04082B4B304}"/>
              </a:ext>
            </a:extLst>
          </p:cNvPr>
          <p:cNvSpPr txBox="1"/>
          <p:nvPr/>
        </p:nvSpPr>
        <p:spPr>
          <a:xfrm>
            <a:off x="417397" y="3015598"/>
            <a:ext cx="853365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Our batch was a unique one! With 4 conveners over the three years. Needless to say, it brought with it its own unique  challenges. More organisation and structure and having educators who are right for the role - clinicians who look to educate and empower the younger clinicians  rather than to demoralize.</a:t>
            </a:r>
          </a:p>
        </p:txBody>
      </p:sp>
    </p:spTree>
    <p:extLst>
      <p:ext uri="{BB962C8B-B14F-4D97-AF65-F5344CB8AC3E}">
        <p14:creationId xmlns:p14="http://schemas.microsoft.com/office/powerpoint/2010/main" val="5700230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>
            <a:normAutofit/>
          </a:bodyPr>
          <a:lstStyle/>
          <a:p>
            <a:r>
              <a:rPr lang="en-AU" sz="2800" dirty="0">
                <a:solidFill>
                  <a:schemeClr val="bg1"/>
                </a:solidFill>
              </a:rPr>
              <a:t>Program recommendation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A1A0784-AEC6-4068-FA5E-D5CD85E76C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14382991"/>
              </p:ext>
            </p:extLst>
          </p:nvPr>
        </p:nvGraphicFramePr>
        <p:xfrm>
          <a:off x="482600" y="1675227"/>
          <a:ext cx="8178799" cy="46584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>
            <a:normAutofit/>
          </a:bodyPr>
          <a:lstStyle/>
          <a:p>
            <a:r>
              <a:rPr lang="en-AU" sz="2800">
                <a:solidFill>
                  <a:schemeClr val="bg1"/>
                </a:solidFill>
              </a:rPr>
              <a:t>Connected to School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FBAC7DED-DEE7-0AA2-8C8D-6972F2EFAA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2950122"/>
              </p:ext>
            </p:extLst>
          </p:nvPr>
        </p:nvGraphicFramePr>
        <p:xfrm>
          <a:off x="482600" y="1675227"/>
          <a:ext cx="8178799" cy="43941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8E0C87-293F-DAED-6367-0BE657C6C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63B85EC-CA92-712D-74E8-03610CB8B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829C15-E63E-6F89-CD9E-E6CD79600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>
            <a:normAutofit/>
          </a:bodyPr>
          <a:lstStyle/>
          <a:p>
            <a:r>
              <a:rPr lang="en-AU" sz="2800">
                <a:solidFill>
                  <a:schemeClr val="bg1"/>
                </a:solidFill>
              </a:rPr>
              <a:t>Connected to School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FA5CC2-7802-8DBB-3A0A-C5EF86F5938B}"/>
              </a:ext>
            </a:extLst>
          </p:cNvPr>
          <p:cNvSpPr txBox="1"/>
          <p:nvPr/>
        </p:nvSpPr>
        <p:spPr>
          <a:xfrm>
            <a:off x="201336" y="1619075"/>
            <a:ext cx="86909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400" dirty="0"/>
              <a:t>If you do not feel connected, how might we increase your connection to the Melbourne Dental School and the University of Melbourne?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833D85-9C2A-4EDF-DB0F-1E99B8E8EB71}"/>
              </a:ext>
            </a:extLst>
          </p:cNvPr>
          <p:cNvSpPr txBox="1"/>
          <p:nvPr/>
        </p:nvSpPr>
        <p:spPr>
          <a:xfrm>
            <a:off x="201336" y="3105834"/>
            <a:ext cx="81225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Thankfully, I believe the programme has changed for the better since we completed our training</a:t>
            </a:r>
          </a:p>
        </p:txBody>
      </p:sp>
    </p:spTree>
    <p:extLst>
      <p:ext uri="{BB962C8B-B14F-4D97-AF65-F5344CB8AC3E}">
        <p14:creationId xmlns:p14="http://schemas.microsoft.com/office/powerpoint/2010/main" val="19153315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468678-04AA-4903-B827-33AA74446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20504C7-E44D-08B5-7DE7-50DE0A85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33B250-9CBD-E12F-BD7D-BC71F6BF3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>
            <a:normAutofit/>
          </a:bodyPr>
          <a:lstStyle/>
          <a:p>
            <a:r>
              <a:rPr lang="en-AU" sz="2800" dirty="0">
                <a:solidFill>
                  <a:schemeClr val="bg1"/>
                </a:solidFill>
              </a:rPr>
              <a:t>Feedback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8FAA8D-E91E-DF7C-B2EC-E0176CD7E6E8}"/>
              </a:ext>
            </a:extLst>
          </p:cNvPr>
          <p:cNvSpPr txBox="1"/>
          <p:nvPr/>
        </p:nvSpPr>
        <p:spPr>
          <a:xfrm>
            <a:off x="201336" y="1619075"/>
            <a:ext cx="869099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As an esteemed graduate of this program, we highly value any additional feedback you are willing to provide. Each comment / suggestion will be carefully considered during an upcoming staff meeting.</a:t>
            </a:r>
            <a:endParaRPr lang="en-AU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AFA384-3840-66D3-E4C1-EA635A381289}"/>
              </a:ext>
            </a:extLst>
          </p:cNvPr>
          <p:cNvSpPr txBox="1"/>
          <p:nvPr/>
        </p:nvSpPr>
        <p:spPr>
          <a:xfrm>
            <a:off x="201336" y="3346100"/>
            <a:ext cx="81225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As above.  Best wishes.</a:t>
            </a:r>
          </a:p>
        </p:txBody>
      </p:sp>
    </p:spTree>
    <p:extLst>
      <p:ext uri="{BB962C8B-B14F-4D97-AF65-F5344CB8AC3E}">
        <p14:creationId xmlns:p14="http://schemas.microsoft.com/office/powerpoint/2010/main" val="3159507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331</Words>
  <Application>Microsoft Office PowerPoint</Application>
  <PresentationFormat>On-screen Show (4:3)</PresentationFormat>
  <Paragraphs>35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Helvetica</vt:lpstr>
      <vt:lpstr>Office Theme</vt:lpstr>
      <vt:lpstr>Alumni Survey - 2024</vt:lpstr>
      <vt:lpstr>Career satisfaction</vt:lpstr>
      <vt:lpstr>Clinically ready</vt:lpstr>
      <vt:lpstr>Critical analysis</vt:lpstr>
      <vt:lpstr>Research outputs</vt:lpstr>
      <vt:lpstr>Time allocation appropriate</vt:lpstr>
      <vt:lpstr>Program preparation</vt:lpstr>
      <vt:lpstr>Program preparation</vt:lpstr>
      <vt:lpstr>Program recommendation</vt:lpstr>
      <vt:lpstr>Connected to School</vt:lpstr>
      <vt:lpstr>Connected to School</vt:lpstr>
      <vt:lpstr>Feedback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Kunal Patel</cp:lastModifiedBy>
  <cp:revision>2</cp:revision>
  <dcterms:created xsi:type="dcterms:W3CDTF">2013-01-27T09:14:16Z</dcterms:created>
  <dcterms:modified xsi:type="dcterms:W3CDTF">2025-08-10T23:17:07Z</dcterms:modified>
  <cp:category/>
</cp:coreProperties>
</file>