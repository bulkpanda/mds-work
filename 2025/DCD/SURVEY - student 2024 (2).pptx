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3" r:id="rId5"/>
    <p:sldId id="266" r:id="rId6"/>
    <p:sldId id="269" r:id="rId7"/>
    <p:sldId id="272" r:id="rId8"/>
    <p:sldId id="275" r:id="rId9"/>
    <p:sldId id="278" r:id="rId10"/>
    <p:sldId id="281" r:id="rId11"/>
    <p:sldId id="284" r:id="rId12"/>
    <p:sldId id="285" r:id="rId13"/>
    <p:sldId id="286" r:id="rId14"/>
    <p:sldId id="289" r:id="rId15"/>
    <p:sldId id="292" r:id="rId16"/>
    <p:sldId id="295" r:id="rId17"/>
    <p:sldId id="298" r:id="rId18"/>
    <p:sldId id="301" r:id="rId19"/>
    <p:sldId id="304" r:id="rId20"/>
    <p:sldId id="305" r:id="rId21"/>
    <p:sldId id="306" r:id="rId22"/>
    <p:sldId id="309" r:id="rId23"/>
    <p:sldId id="312" r:id="rId24"/>
    <p:sldId id="315" r:id="rId25"/>
    <p:sldId id="318" r:id="rId26"/>
    <p:sldId id="321" r:id="rId27"/>
    <p:sldId id="324" r:id="rId28"/>
    <p:sldId id="325" r:id="rId29"/>
    <p:sldId id="326" r:id="rId30"/>
    <p:sldId id="327" r:id="rId31"/>
    <p:sldId id="330" r:id="rId32"/>
    <p:sldId id="402" r:id="rId33"/>
    <p:sldId id="405" r:id="rId34"/>
    <p:sldId id="408" r:id="rId35"/>
    <p:sldId id="411" r:id="rId36"/>
    <p:sldId id="333" r:id="rId37"/>
    <p:sldId id="334" r:id="rId38"/>
    <p:sldId id="335" r:id="rId39"/>
    <p:sldId id="338" r:id="rId40"/>
    <p:sldId id="341" r:id="rId41"/>
    <p:sldId id="344" r:id="rId42"/>
    <p:sldId id="347" r:id="rId43"/>
    <p:sldId id="350" r:id="rId44"/>
    <p:sldId id="353" r:id="rId45"/>
    <p:sldId id="354" r:id="rId46"/>
    <p:sldId id="355" r:id="rId47"/>
    <p:sldId id="356" r:id="rId48"/>
    <p:sldId id="357" r:id="rId49"/>
    <p:sldId id="360" r:id="rId50"/>
    <p:sldId id="361" r:id="rId51"/>
    <p:sldId id="364" r:id="rId52"/>
    <p:sldId id="365" r:id="rId53"/>
    <p:sldId id="414" r:id="rId54"/>
    <p:sldId id="424" r:id="rId55"/>
    <p:sldId id="417" r:id="rId56"/>
    <p:sldId id="418" r:id="rId57"/>
    <p:sldId id="421" r:id="rId58"/>
    <p:sldId id="422" r:id="rId59"/>
    <p:sldId id="366" r:id="rId60"/>
    <p:sldId id="369" r:id="rId61"/>
    <p:sldId id="372" r:id="rId62"/>
    <p:sldId id="375" r:id="rId63"/>
    <p:sldId id="378" r:id="rId64"/>
    <p:sldId id="381" r:id="rId65"/>
    <p:sldId id="382" r:id="rId66"/>
    <p:sldId id="383" r:id="rId67"/>
    <p:sldId id="384" r:id="rId68"/>
    <p:sldId id="387" r:id="rId69"/>
    <p:sldId id="388" r:id="rId70"/>
    <p:sldId id="389" r:id="rId71"/>
    <p:sldId id="390" r:id="rId72"/>
    <p:sldId id="393" r:id="rId73"/>
    <p:sldId id="396" r:id="rId74"/>
    <p:sldId id="399" r:id="rId75"/>
    <p:sldId id="400" r:id="rId76"/>
    <p:sldId id="401"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722"/>
  </p:normalViewPr>
  <p:slideViewPr>
    <p:cSldViewPr snapToGrid="0">
      <p:cViewPr varScale="1">
        <p:scale>
          <a:sx n="118" d="100"/>
          <a:sy n="118" d="100"/>
        </p:scale>
        <p:origin x="1664" y="208"/>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66F1F-CE9B-4651-A6AA-CD717754106B}"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021451-1387-4CA6-816F-3879F97B5CB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66F1F-CE9B-4651-A6AA-CD717754106B}" type="datetimeFigureOut">
              <a:rPr lang="en-US" smtClean="0"/>
              <a:t>8/3/25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021451-1387-4CA6-816F-3879F97B5CB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457200" y="2829000"/>
            <a:ext cx="8229600" cy="1200000"/>
          </a:xfrm>
          <a:prstGeom prst="rect">
            <a:avLst/>
          </a:prstGeom>
          <a:noFill/>
        </p:spPr>
        <p:txBody>
          <a:bodyPr wrap="square" rtlCol="0"/>
          <a:lstStyle/>
          <a:p>
            <a:pPr algn="ctr"/>
            <a:r>
              <a:rPr lang="en-US" sz="4800" dirty="0">
                <a:solidFill>
                  <a:srgbClr val="4D4D4D"/>
                </a:solidFill>
                <a:latin typeface="Helvetica Neue" pitchFamily="34" charset="0"/>
                <a:cs typeface="Helvetica Neue" pitchFamily="34" charset="0"/>
              </a:rPr>
              <a:t>SURVEY – student 2024</a:t>
            </a:r>
            <a:endParaRPr lang="en-US" sz="4800" dirty="0"/>
          </a:p>
        </p:txBody>
      </p:sp>
      <p:sp>
        <p:nvSpPr>
          <p:cNvPr id="3" name="Object 2"/>
          <p:cNvSpPr txBox="1"/>
          <p:nvPr/>
        </p:nvSpPr>
        <p:spPr>
          <a:xfrm>
            <a:off x="457200" y="5000000"/>
            <a:ext cx="8229600" cy="369332"/>
          </a:xfrm>
          <a:prstGeom prst="rect">
            <a:avLst/>
          </a:prstGeom>
          <a:noFill/>
        </p:spPr>
        <p:txBody>
          <a:bodyPr wrap="square" rtlCol="0"/>
          <a:lstStyle/>
          <a:p>
            <a:pPr algn="ctr"/>
            <a:r>
              <a:rPr lang="en-US" sz="1400" dirty="0">
                <a:solidFill>
                  <a:srgbClr val="7F7F7F"/>
                </a:solidFill>
                <a:latin typeface="Helvetica" pitchFamily="34" charset="0"/>
                <a:cs typeface="Helvetica" pitchFamily="34" charset="0"/>
              </a:rPr>
              <a:t>DCD Paediatric Dentistry 2024</a:t>
            </a:r>
            <a:endParaRPr lang="en-US" sz="1400" dirty="0"/>
          </a:p>
        </p:txBody>
      </p:sp>
      <p:sp>
        <p:nvSpPr>
          <p:cNvPr id="4" name="Object 3"/>
          <p:cNvSpPr txBox="1"/>
          <p:nvPr/>
        </p:nvSpPr>
        <p:spPr>
          <a:xfrm>
            <a:off x="457200" y="5400000"/>
            <a:ext cx="8229600" cy="369332"/>
          </a:xfrm>
          <a:prstGeom prst="rect">
            <a:avLst/>
          </a:prstGeom>
          <a:noFill/>
        </p:spPr>
        <p:txBody>
          <a:bodyPr wrap="square" rtlCol="0"/>
          <a:lstStyle/>
          <a:p>
            <a:pPr algn="ctr"/>
            <a:r>
              <a:rPr lang="en-US" sz="1200" b="1" dirty="0">
                <a:solidFill>
                  <a:srgbClr val="7F7F7F"/>
                </a:solidFill>
                <a:latin typeface="Helvetica" pitchFamily="34" charset="0"/>
                <a:cs typeface="Helvetica" pitchFamily="34" charset="0"/>
              </a:rPr>
              <a:t>January 7th 2025, 1:13 pm AEDT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Q1 - There were sufficient patients with a broad range of conditions to contribute     to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Q2 - There was sufficient chairside assistance in each of the clinical settings to allow me to work efficiently</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Q3 - The equipment and materials in each of the clinical settings was appropriate for patient care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Q4 - Dr. Cheney was readily available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Q5 - Dr. Cheney was patient with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Q6 - Dr. Cheney was interested in my progress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Q7 - Dr. Cheney was up-to-date with current clinical practices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Q8 - Dr. Cheney provided useful information to help my skills develop</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Q9 - Dr. Cheney gave timely and constructive feedback</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Q10 - What were the best aspects of Dr. Cheney's teaching?</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543560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Dr. Cheney's teaching?</a:t>
                      </a:r>
                    </a:p>
                  </a:txBody>
                  <a:tcPr/>
                </a:tc>
                <a:extLst>
                  <a:ext uri="{0D108BD9-81ED-4DB2-BD59-A6C34878D82A}">
                    <a16:rowId xmlns:a16="http://schemas.microsoft.com/office/drawing/2014/main" val="10000"/>
                  </a:ext>
                </a:extLst>
              </a:tr>
              <a:tr h="370840">
                <a:tc>
                  <a:txBody>
                    <a:bodyPr/>
                    <a:lstStyle/>
                    <a:p>
                      <a:r>
                        <a:rPr lang="en-US" sz="1600" dirty="0"/>
                        <a:t>Dr Cheney's hands-off approach to teaching has enabled me to think for myself, instead of relying heavily on others. </a:t>
                      </a:r>
                    </a:p>
                  </a:txBody>
                  <a:tcPr/>
                </a:tc>
                <a:extLst>
                  <a:ext uri="{0D108BD9-81ED-4DB2-BD59-A6C34878D82A}">
                    <a16:rowId xmlns:a16="http://schemas.microsoft.com/office/drawing/2014/main" val="10001"/>
                  </a:ext>
                </a:extLst>
              </a:tr>
              <a:tr h="370840">
                <a:tc>
                  <a:txBody>
                    <a:bodyPr/>
                    <a:lstStyle/>
                    <a:p>
                      <a:r>
                        <a:rPr lang="en-US" sz="1600" dirty="0"/>
                        <a:t>Patient, approachable</a:t>
                      </a:r>
                    </a:p>
                  </a:txBody>
                  <a:tcPr/>
                </a:tc>
                <a:extLst>
                  <a:ext uri="{0D108BD9-81ED-4DB2-BD59-A6C34878D82A}">
                    <a16:rowId xmlns:a16="http://schemas.microsoft.com/office/drawing/2014/main" val="10002"/>
                  </a:ext>
                </a:extLst>
              </a:tr>
              <a:tr h="370840">
                <a:tc>
                  <a:txBody>
                    <a:bodyPr/>
                    <a:lstStyle/>
                    <a:p>
                      <a:r>
                        <a:rPr lang="en-US" sz="1600" dirty="0"/>
                        <a:t>Dr Cheney employs a hands-off approach towards teaching, which is something I appreciate as it gives me the opportunity to think/brainstorm independently. </a:t>
                      </a:r>
                    </a:p>
                  </a:txBody>
                  <a:tcPr/>
                </a:tc>
                <a:extLst>
                  <a:ext uri="{0D108BD9-81ED-4DB2-BD59-A6C34878D82A}">
                    <a16:rowId xmlns:a16="http://schemas.microsoft.com/office/drawing/2014/main" val="10003"/>
                  </a:ext>
                </a:extLst>
              </a:tr>
              <a:tr h="370840">
                <a:tc>
                  <a:txBody>
                    <a:bodyPr/>
                    <a:lstStyle/>
                    <a:p>
                      <a:r>
                        <a:rPr lang="en-US" sz="1600" dirty="0"/>
                        <a:t>Dr. Cheney strikes a great balance between offering feedback and support while giving us the autonomy to treatment plan and provide care in areas where we feel confident.</a:t>
                      </a:r>
                    </a:p>
                  </a:txBody>
                  <a:tcPr/>
                </a:tc>
                <a:extLst>
                  <a:ext uri="{0D108BD9-81ED-4DB2-BD59-A6C34878D82A}">
                    <a16:rowId xmlns:a16="http://schemas.microsoft.com/office/drawing/2014/main" val="10004"/>
                  </a:ext>
                </a:extLst>
              </a:tr>
              <a:tr h="370840">
                <a:tc>
                  <a:txBody>
                    <a:bodyPr/>
                    <a:lstStyle/>
                    <a:p>
                      <a:r>
                        <a:rPr lang="en-US" sz="1600" dirty="0"/>
                        <a:t>Dr Cheney has fostered a positive environment within the program that has provided us with confidence and the opportunity to learn from herself, my peers and her local and international paediatric specialists. She is incredibly considerate of us students and we appreciate what she does for us. </a:t>
                      </a:r>
                    </a:p>
                  </a:txBody>
                  <a:tcPr/>
                </a:tc>
                <a:extLst>
                  <a:ext uri="{0D108BD9-81ED-4DB2-BD59-A6C34878D82A}">
                    <a16:rowId xmlns:a16="http://schemas.microsoft.com/office/drawing/2014/main" val="10005"/>
                  </a:ext>
                </a:extLst>
              </a:tr>
              <a:tr h="370840">
                <a:tc>
                  <a:txBody>
                    <a:bodyPr/>
                    <a:lstStyle/>
                    <a:p>
                      <a:r>
                        <a:rPr lang="en-US" sz="1600" dirty="0"/>
                        <a:t>Very patient with helping us to develop skills for treatment planning. Very encouraging and positive learning environment when Dr. Cheney is the demonstrator. Amazing GA experience with Dr. Cheney as the supervising consultant</a:t>
                      </a:r>
                    </a:p>
                  </a:txBody>
                  <a:tcPr/>
                </a:tc>
                <a:extLst>
                  <a:ext uri="{0D108BD9-81ED-4DB2-BD59-A6C34878D82A}">
                    <a16:rowId xmlns:a16="http://schemas.microsoft.com/office/drawing/2014/main" val="10006"/>
                  </a:ext>
                </a:extLst>
              </a:tr>
              <a:tr h="370840">
                <a:tc>
                  <a:txBody>
                    <a:bodyPr/>
                    <a:lstStyle/>
                    <a:p>
                      <a:r>
                        <a:rPr lang="en-US" sz="1600" dirty="0"/>
                        <a:t>Wendy is very approachable, empathetic, and supportive in her teaching style. She is always upfront if there there is something she disagrees with or needs improvement, but she delivers her advice in a respectful way and is always open to discussion. She is also the best dental assistant I have ever had in GA!</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Q11 - If you could give Dr. Cheney advice on her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359156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Dr. Cheney advice on her teaching, what would you say?</a:t>
                      </a:r>
                    </a:p>
                  </a:txBody>
                  <a:tcPr/>
                </a:tc>
                <a:extLst>
                  <a:ext uri="{0D108BD9-81ED-4DB2-BD59-A6C34878D82A}">
                    <a16:rowId xmlns:a16="http://schemas.microsoft.com/office/drawing/2014/main" val="10000"/>
                  </a:ext>
                </a:extLst>
              </a:tr>
              <a:tr h="370840">
                <a:tc>
                  <a:txBody>
                    <a:bodyPr/>
                    <a:lstStyle/>
                    <a:p>
                      <a:r>
                        <a:rPr lang="en-US" sz="1600" dirty="0"/>
                        <a:t>Dr Cheney should speak more freely and convey criticism on what she is thinking. This would be more beneficial to my learning so I know where I can improve. </a:t>
                      </a:r>
                    </a:p>
                  </a:txBody>
                  <a:tcPr/>
                </a:tc>
                <a:extLst>
                  <a:ext uri="{0D108BD9-81ED-4DB2-BD59-A6C34878D82A}">
                    <a16:rowId xmlns:a16="http://schemas.microsoft.com/office/drawing/2014/main" val="10001"/>
                  </a:ext>
                </a:extLst>
              </a:tr>
              <a:tr h="370840">
                <a:tc>
                  <a:txBody>
                    <a:bodyPr/>
                    <a:lstStyle/>
                    <a:p>
                      <a:r>
                        <a:rPr lang="en-US" sz="1600" dirty="0"/>
                        <a:t>Can be more active versus her more passive approach </a:t>
                      </a:r>
                    </a:p>
                  </a:txBody>
                  <a:tcPr/>
                </a:tc>
                <a:extLst>
                  <a:ext uri="{0D108BD9-81ED-4DB2-BD59-A6C34878D82A}">
                    <a16:rowId xmlns:a16="http://schemas.microsoft.com/office/drawing/2014/main" val="10002"/>
                  </a:ext>
                </a:extLst>
              </a:tr>
              <a:tr h="370840">
                <a:tc>
                  <a:txBody>
                    <a:bodyPr/>
                    <a:lstStyle/>
                    <a:p>
                      <a:r>
                        <a:rPr lang="en-US" sz="1600" dirty="0"/>
                        <a:t>Not much </a:t>
                      </a:r>
                    </a:p>
                  </a:txBody>
                  <a:tcPr/>
                </a:tc>
                <a:extLst>
                  <a:ext uri="{0D108BD9-81ED-4DB2-BD59-A6C34878D82A}">
                    <a16:rowId xmlns:a16="http://schemas.microsoft.com/office/drawing/2014/main" val="10003"/>
                  </a:ext>
                </a:extLst>
              </a:tr>
              <a:tr h="370840">
                <a:tc>
                  <a:txBody>
                    <a:bodyPr/>
                    <a:lstStyle/>
                    <a:p>
                      <a:r>
                        <a:rPr lang="en-US" sz="1600" dirty="0"/>
                        <a:t>Would be great to receive ongoing feedback on any areas in which we can improve on. </a:t>
                      </a:r>
                    </a:p>
                  </a:txBody>
                  <a:tcPr/>
                </a:tc>
                <a:extLst>
                  <a:ext uri="{0D108BD9-81ED-4DB2-BD59-A6C34878D82A}">
                    <a16:rowId xmlns:a16="http://schemas.microsoft.com/office/drawing/2014/main" val="10004"/>
                  </a:ext>
                </a:extLst>
              </a:tr>
              <a:tr h="370840">
                <a:tc>
                  <a:txBody>
                    <a:bodyPr/>
                    <a:lstStyle/>
                    <a:p>
                      <a:r>
                        <a:rPr lang="en-US" sz="1600" dirty="0"/>
                        <a:t>Timetable could be released earlier to allow us to better schedule patients, however I can appreciate that there were challenges this year that might have prevented this. </a:t>
                      </a:r>
                    </a:p>
                  </a:txBody>
                  <a:tcPr/>
                </a:tc>
                <a:extLst>
                  <a:ext uri="{0D108BD9-81ED-4DB2-BD59-A6C34878D82A}">
                    <a16:rowId xmlns:a16="http://schemas.microsoft.com/office/drawing/2014/main" val="10005"/>
                  </a:ext>
                </a:extLst>
              </a:tr>
              <a:tr h="370840">
                <a:tc>
                  <a:txBody>
                    <a:bodyPr/>
                    <a:lstStyle/>
                    <a:p>
                      <a:r>
                        <a:rPr lang="en-US" sz="1600" dirty="0"/>
                        <a:t>More feedback on sessions if required at the time to make sure that we are progressing in the right direction. </a:t>
                      </a:r>
                    </a:p>
                  </a:txBody>
                  <a:tcPr/>
                </a:tc>
                <a:extLst>
                  <a:ext uri="{0D108BD9-81ED-4DB2-BD59-A6C34878D82A}">
                    <a16:rowId xmlns:a16="http://schemas.microsoft.com/office/drawing/2014/main" val="10006"/>
                  </a:ext>
                </a:extLst>
              </a:tr>
              <a:tr h="370840">
                <a:tc>
                  <a:txBody>
                    <a:bodyPr/>
                    <a:lstStyle/>
                    <a:p>
                      <a:r>
                        <a:rPr lang="en-US" sz="1600" dirty="0"/>
                        <a:t>Keep up the great work and please don't retire before I graduate! We are lucky to have you.</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Q12 - Dr. Pandey was readily available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Q13 - Dr. Pandey was patient with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Q14 - Dr. Pandey was interested in my progress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Q15 - Dr. Pandey was up-to-date with clinical practices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Q16 - Dr. Pandey provided useful information to help my skills develop</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Q17 - Dr. Pandey gave timely and constructive feedback</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Q18 - What were the best aspects of Dr. Pandey's teaching?</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0436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Dr. Pandey's teaching?</a:t>
                      </a:r>
                    </a:p>
                  </a:txBody>
                  <a:tcPr/>
                </a:tc>
                <a:extLst>
                  <a:ext uri="{0D108BD9-81ED-4DB2-BD59-A6C34878D82A}">
                    <a16:rowId xmlns:a16="http://schemas.microsoft.com/office/drawing/2014/main" val="10000"/>
                  </a:ext>
                </a:extLst>
              </a:tr>
              <a:tr h="370840">
                <a:tc>
                  <a:txBody>
                    <a:bodyPr/>
                    <a:lstStyle/>
                    <a:p>
                      <a:r>
                        <a:rPr lang="en-US" sz="1600" dirty="0"/>
                        <a:t>Dr Pandey's passion for her students and their learning is appreciated.</a:t>
                      </a:r>
                    </a:p>
                  </a:txBody>
                  <a:tcPr/>
                </a:tc>
                <a:extLst>
                  <a:ext uri="{0D108BD9-81ED-4DB2-BD59-A6C34878D82A}">
                    <a16:rowId xmlns:a16="http://schemas.microsoft.com/office/drawing/2014/main" val="10001"/>
                  </a:ext>
                </a:extLst>
              </a:tr>
              <a:tr h="370840">
                <a:tc>
                  <a:txBody>
                    <a:bodyPr/>
                    <a:lstStyle/>
                    <a:p>
                      <a:r>
                        <a:rPr lang="en-US" sz="1600" dirty="0"/>
                        <a:t>Approachable, happy to jump in and assess if you ask</a:t>
                      </a:r>
                    </a:p>
                  </a:txBody>
                  <a:tcPr/>
                </a:tc>
                <a:extLst>
                  <a:ext uri="{0D108BD9-81ED-4DB2-BD59-A6C34878D82A}">
                    <a16:rowId xmlns:a16="http://schemas.microsoft.com/office/drawing/2014/main" val="10002"/>
                  </a:ext>
                </a:extLst>
              </a:tr>
              <a:tr h="370840">
                <a:tc>
                  <a:txBody>
                    <a:bodyPr/>
                    <a:lstStyle/>
                    <a:p>
                      <a:r>
                        <a:rPr lang="en-US" sz="1600" dirty="0"/>
                        <a:t>Dr Pandey genuinely cares for her postgrads which makes PG life more bearable. </a:t>
                      </a:r>
                    </a:p>
                  </a:txBody>
                  <a:tcPr/>
                </a:tc>
                <a:extLst>
                  <a:ext uri="{0D108BD9-81ED-4DB2-BD59-A6C34878D82A}">
                    <a16:rowId xmlns:a16="http://schemas.microsoft.com/office/drawing/2014/main" val="10003"/>
                  </a:ext>
                </a:extLst>
              </a:tr>
              <a:tr h="370840">
                <a:tc>
                  <a:txBody>
                    <a:bodyPr/>
                    <a:lstStyle/>
                    <a:p>
                      <a:r>
                        <a:rPr lang="en-US" sz="1600" dirty="0"/>
                        <a:t>Dr. Pandey was excellent in GA, offering valuable tips for working more efficiently while providing support and encouragement to help us perform our best.</a:t>
                      </a:r>
                    </a:p>
                  </a:txBody>
                  <a:tcPr/>
                </a:tc>
                <a:extLst>
                  <a:ext uri="{0D108BD9-81ED-4DB2-BD59-A6C34878D82A}">
                    <a16:rowId xmlns:a16="http://schemas.microsoft.com/office/drawing/2014/main" val="10004"/>
                  </a:ext>
                </a:extLst>
              </a:tr>
              <a:tr h="370840">
                <a:tc>
                  <a:txBody>
                    <a:bodyPr/>
                    <a:lstStyle/>
                    <a:p>
                      <a:r>
                        <a:rPr lang="en-US" sz="1600" dirty="0"/>
                        <a:t>Dr Pandey is a supportive teacher; she is very proactive with regular constructive feedback. This is valued and helps us keep track of our progress. She is good at setting clear expectations and structure. She has been very supportive in our development.</a:t>
                      </a:r>
                    </a:p>
                  </a:txBody>
                  <a:tcPr/>
                </a:tc>
                <a:extLst>
                  <a:ext uri="{0D108BD9-81ED-4DB2-BD59-A6C34878D82A}">
                    <a16:rowId xmlns:a16="http://schemas.microsoft.com/office/drawing/2014/main" val="10005"/>
                  </a:ext>
                </a:extLst>
              </a:tr>
              <a:tr h="370840">
                <a:tc>
                  <a:txBody>
                    <a:bodyPr/>
                    <a:lstStyle/>
                    <a:p>
                      <a:r>
                        <a:rPr lang="en-US" sz="1600" dirty="0"/>
                        <a:t>Gives regular feedback and will acknowledge improvements in areas that have been discussed previously. Very present in GA sessions and helps us to improve time management</a:t>
                      </a:r>
                    </a:p>
                  </a:txBody>
                  <a:tcPr/>
                </a:tc>
                <a:extLst>
                  <a:ext uri="{0D108BD9-81ED-4DB2-BD59-A6C34878D82A}">
                    <a16:rowId xmlns:a16="http://schemas.microsoft.com/office/drawing/2014/main" val="10006"/>
                  </a:ext>
                </a:extLst>
              </a:tr>
              <a:tr h="370840">
                <a:tc>
                  <a:txBody>
                    <a:bodyPr/>
                    <a:lstStyle/>
                    <a:p>
                      <a:r>
                        <a:rPr lang="en-US" sz="1600" dirty="0"/>
                        <a:t>Maria is so willing to pass on her knowledge and ensures we have comprehensive learning by providing the 'private practice' perspective that we miss working in the public system.</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Q19 - If you could give Dr. Pandey advice on her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7396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Dr. Pandey advice on her teaching, what would you say?</a:t>
                      </a:r>
                    </a:p>
                  </a:txBody>
                  <a:tcPr/>
                </a:tc>
                <a:extLst>
                  <a:ext uri="{0D108BD9-81ED-4DB2-BD59-A6C34878D82A}">
                    <a16:rowId xmlns:a16="http://schemas.microsoft.com/office/drawing/2014/main" val="10000"/>
                  </a:ext>
                </a:extLst>
              </a:tr>
              <a:tr h="370840">
                <a:tc>
                  <a:txBody>
                    <a:bodyPr/>
                    <a:lstStyle/>
                    <a:p>
                      <a:r>
                        <a:rPr lang="en-US" sz="1600" dirty="0"/>
                        <a:t>Dr Pandey could be focus on providing clinical feedback during clinic hours, and use non-clinic hours to discuss other personal matters. </a:t>
                      </a:r>
                    </a:p>
                  </a:txBody>
                  <a:tcPr/>
                </a:tc>
                <a:extLst>
                  <a:ext uri="{0D108BD9-81ED-4DB2-BD59-A6C34878D82A}">
                    <a16:rowId xmlns:a16="http://schemas.microsoft.com/office/drawing/2014/main" val="10001"/>
                  </a:ext>
                </a:extLst>
              </a:tr>
              <a:tr h="370840">
                <a:tc>
                  <a:txBody>
                    <a:bodyPr/>
                    <a:lstStyle/>
                    <a:p>
                      <a:r>
                        <a:rPr lang="en-US" sz="1600" dirty="0"/>
                        <a:t>Please try and listen when we are presenting cases because half way through you will interrupt and I lose my train of thought and then the sequence you prefer the information to be presented in gets out of order, which will reflect badly on me. Please do not count me down in 30 second increments during GA. In no way is it helpful to my learning or otherwise. Happy  to be timed, very important, but please find another way</a:t>
                      </a:r>
                    </a:p>
                  </a:txBody>
                  <a:tcPr/>
                </a:tc>
                <a:extLst>
                  <a:ext uri="{0D108BD9-81ED-4DB2-BD59-A6C34878D82A}">
                    <a16:rowId xmlns:a16="http://schemas.microsoft.com/office/drawing/2014/main" val="10002"/>
                  </a:ext>
                </a:extLst>
              </a:tr>
              <a:tr h="370840">
                <a:tc>
                  <a:txBody>
                    <a:bodyPr/>
                    <a:lstStyle/>
                    <a:p>
                      <a:r>
                        <a:rPr lang="en-US" sz="1600" dirty="0"/>
                        <a:t>Dr Pandey sometimes changes her mind on some treatment decisions. </a:t>
                      </a:r>
                    </a:p>
                  </a:txBody>
                  <a:tcPr/>
                </a:tc>
                <a:extLst>
                  <a:ext uri="{0D108BD9-81ED-4DB2-BD59-A6C34878D82A}">
                    <a16:rowId xmlns:a16="http://schemas.microsoft.com/office/drawing/2014/main" val="10003"/>
                  </a:ext>
                </a:extLst>
              </a:tr>
              <a:tr h="370840">
                <a:tc>
                  <a:txBody>
                    <a:bodyPr/>
                    <a:lstStyle/>
                    <a:p>
                      <a:r>
                        <a:rPr lang="en-US" sz="1600" dirty="0"/>
                        <a:t>Nil specific </a:t>
                      </a:r>
                    </a:p>
                  </a:txBody>
                  <a:tcPr/>
                </a:tc>
                <a:extLst>
                  <a:ext uri="{0D108BD9-81ED-4DB2-BD59-A6C34878D82A}">
                    <a16:rowId xmlns:a16="http://schemas.microsoft.com/office/drawing/2014/main" val="10004"/>
                  </a:ext>
                </a:extLst>
              </a:tr>
              <a:tr h="370840">
                <a:tc>
                  <a:txBody>
                    <a:bodyPr/>
                    <a:lstStyle/>
                    <a:p>
                      <a:r>
                        <a:rPr lang="en-US" sz="1600" dirty="0"/>
                        <a:t>It can be challenging to find time to discuss cases or complete paperwork with Dr Pandey's availability. I feel I could learn more from her if provided with the time.</a:t>
                      </a:r>
                    </a:p>
                  </a:txBody>
                  <a:tcPr/>
                </a:tc>
                <a:extLst>
                  <a:ext uri="{0D108BD9-81ED-4DB2-BD59-A6C34878D82A}">
                    <a16:rowId xmlns:a16="http://schemas.microsoft.com/office/drawing/2014/main" val="10005"/>
                  </a:ext>
                </a:extLst>
              </a:tr>
              <a:tr h="370840">
                <a:tc>
                  <a:txBody>
                    <a:bodyPr/>
                    <a:lstStyle/>
                    <a:p>
                      <a:r>
                        <a:rPr lang="en-US" sz="1600" dirty="0"/>
                        <a:t>More constructive feedback as sometimes it can be presented in a way that is critical rather than constructive.</a:t>
                      </a:r>
                    </a:p>
                  </a:txBody>
                  <a:tcPr/>
                </a:tc>
                <a:extLst>
                  <a:ext uri="{0D108BD9-81ED-4DB2-BD59-A6C34878D82A}">
                    <a16:rowId xmlns:a16="http://schemas.microsoft.com/office/drawing/2014/main" val="10006"/>
                  </a:ext>
                </a:extLst>
              </a:tr>
              <a:tr h="370840">
                <a:tc>
                  <a:txBody>
                    <a:bodyPr/>
                    <a:lstStyle/>
                    <a:p>
                      <a:r>
                        <a:rPr lang="en-US" sz="1600" dirty="0"/>
                        <a:t>No areas for improvement - I am grateful for her time and support, particularly in teaching practical skills and preparing us for viva presentations.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Q20 - Dr. Andreasen-Cocker was readily available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Q21 - Dr. Andreasen-Cocker was patient with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Q22 - Dr. Andreasen-Cocker was interested in my progress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Q23 - Dr. Andreasen-Cocker was up-to-date with clinical practices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Q24 - Dr. Andreasen-Cocker provided useful information to help my skills develop</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Q25 - Dr. Andreasen-Cocker gave timely and constructive feedback</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Q26 - What were the best aspects of Dr. Andreasen-Cocker's teaching?</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49580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Dr. Andreasen-Cocker's teaching?</a:t>
                      </a:r>
                    </a:p>
                  </a:txBody>
                  <a:tcPr/>
                </a:tc>
                <a:extLst>
                  <a:ext uri="{0D108BD9-81ED-4DB2-BD59-A6C34878D82A}">
                    <a16:rowId xmlns:a16="http://schemas.microsoft.com/office/drawing/2014/main" val="10000"/>
                  </a:ext>
                </a:extLst>
              </a:tr>
              <a:tr h="370840">
                <a:tc>
                  <a:txBody>
                    <a:bodyPr/>
                    <a:lstStyle/>
                    <a:p>
                      <a:r>
                        <a:rPr lang="en-US" sz="1600" dirty="0"/>
                        <a:t>Dr Andreasen-Cocker is a daring clinician with surgical experience and it is a pleasure to watch/be guided by him.</a:t>
                      </a:r>
                    </a:p>
                  </a:txBody>
                  <a:tcPr/>
                </a:tc>
                <a:extLst>
                  <a:ext uri="{0D108BD9-81ED-4DB2-BD59-A6C34878D82A}">
                    <a16:rowId xmlns:a16="http://schemas.microsoft.com/office/drawing/2014/main" val="10001"/>
                  </a:ext>
                </a:extLst>
              </a:tr>
              <a:tr h="370840">
                <a:tc>
                  <a:txBody>
                    <a:bodyPr/>
                    <a:lstStyle/>
                    <a:p>
                      <a:r>
                        <a:rPr lang="en-US" sz="1600" dirty="0"/>
                        <a:t>Will let you</a:t>
                      </a:r>
                    </a:p>
                  </a:txBody>
                  <a:tcPr/>
                </a:tc>
                <a:extLst>
                  <a:ext uri="{0D108BD9-81ED-4DB2-BD59-A6C34878D82A}">
                    <a16:rowId xmlns:a16="http://schemas.microsoft.com/office/drawing/2014/main" val="10002"/>
                  </a:ext>
                </a:extLst>
              </a:tr>
              <a:tr h="370840">
                <a:tc>
                  <a:txBody>
                    <a:bodyPr/>
                    <a:lstStyle/>
                    <a:p>
                      <a:r>
                        <a:rPr lang="en-US" sz="1600" dirty="0"/>
                        <a:t>Dr Andreasen-Cocker loves teaching and I enjoy how he explains things. </a:t>
                      </a:r>
                    </a:p>
                  </a:txBody>
                  <a:tcPr/>
                </a:tc>
                <a:extLst>
                  <a:ext uri="{0D108BD9-81ED-4DB2-BD59-A6C34878D82A}">
                    <a16:rowId xmlns:a16="http://schemas.microsoft.com/office/drawing/2014/main" val="10003"/>
                  </a:ext>
                </a:extLst>
              </a:tr>
              <a:tr h="370840">
                <a:tc>
                  <a:txBody>
                    <a:bodyPr/>
                    <a:lstStyle/>
                    <a:p>
                      <a:r>
                        <a:rPr lang="en-US" sz="1600" dirty="0"/>
                        <a:t>Dr Andreasen Cocker identifies areas that need improvement, and immediate feedback in the sessions.  </a:t>
                      </a:r>
                    </a:p>
                  </a:txBody>
                  <a:tcPr/>
                </a:tc>
                <a:extLst>
                  <a:ext uri="{0D108BD9-81ED-4DB2-BD59-A6C34878D82A}">
                    <a16:rowId xmlns:a16="http://schemas.microsoft.com/office/drawing/2014/main" val="10004"/>
                  </a:ext>
                </a:extLst>
              </a:tr>
              <a:tr h="370840">
                <a:tc>
                  <a:txBody>
                    <a:bodyPr/>
                    <a:lstStyle/>
                    <a:p>
                      <a:r>
                        <a:rPr lang="en-US" sz="1600" dirty="0"/>
                        <a:t>Dr Andreasen-Cocker is an incredibly knowledgable teacher. He is a skilled operator and teacher of oral surgery; which is a great asset. His approach to teaching by questioning or challenging our decision making processes enhances our learning. </a:t>
                      </a:r>
                    </a:p>
                  </a:txBody>
                  <a:tcPr/>
                </a:tc>
                <a:extLst>
                  <a:ext uri="{0D108BD9-81ED-4DB2-BD59-A6C34878D82A}">
                    <a16:rowId xmlns:a16="http://schemas.microsoft.com/office/drawing/2014/main" val="10005"/>
                  </a:ext>
                </a:extLst>
              </a:tr>
              <a:tr h="370840">
                <a:tc>
                  <a:txBody>
                    <a:bodyPr/>
                    <a:lstStyle/>
                    <a:p>
                      <a:r>
                        <a:rPr lang="en-US" sz="1600" dirty="0"/>
                        <a:t>Always happy to discuss cases and teach especially with surgical cases and CBCT. Very supportive of our learning and wellbeing as students </a:t>
                      </a:r>
                    </a:p>
                  </a:txBody>
                  <a:tcPr/>
                </a:tc>
                <a:extLst>
                  <a:ext uri="{0D108BD9-81ED-4DB2-BD59-A6C34878D82A}">
                    <a16:rowId xmlns:a16="http://schemas.microsoft.com/office/drawing/2014/main" val="10006"/>
                  </a:ext>
                </a:extLst>
              </a:tr>
              <a:tr h="370840">
                <a:tc>
                  <a:txBody>
                    <a:bodyPr/>
                    <a:lstStyle/>
                    <a:p>
                      <a:r>
                        <a:rPr lang="en-US" sz="1600" dirty="0"/>
                        <a:t>Perfect example: last week Dan was running multiple theatres, we had had a day of difficult cases, and theatre was an hour behind schedule, yet he made the effort to talk me through every step of each procedure and made time to give me constructive feedback at the end of the session.</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Q27 - If you could give Dr. Andreasen-Cocker advice on his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8920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Dr. Andreasen-Cocker advice on his teaching, what would you say?</a:t>
                      </a:r>
                    </a:p>
                  </a:txBody>
                  <a:tcPr/>
                </a:tc>
                <a:extLst>
                  <a:ext uri="{0D108BD9-81ED-4DB2-BD59-A6C34878D82A}">
                    <a16:rowId xmlns:a16="http://schemas.microsoft.com/office/drawing/2014/main" val="10000"/>
                  </a:ext>
                </a:extLst>
              </a:tr>
              <a:tr h="370840">
                <a:tc>
                  <a:txBody>
                    <a:bodyPr/>
                    <a:lstStyle/>
                    <a:p>
                      <a:r>
                        <a:rPr lang="en-US" sz="1600" dirty="0"/>
                        <a:t>Dr Andreasen-Cocker appears to get flustered/frustrated when things do not go smoothly, and this can show. </a:t>
                      </a:r>
                    </a:p>
                  </a:txBody>
                  <a:tcPr/>
                </a:tc>
                <a:extLst>
                  <a:ext uri="{0D108BD9-81ED-4DB2-BD59-A6C34878D82A}">
                    <a16:rowId xmlns:a16="http://schemas.microsoft.com/office/drawing/2014/main" val="10001"/>
                  </a:ext>
                </a:extLst>
              </a:tr>
              <a:tr h="370840">
                <a:tc>
                  <a:txBody>
                    <a:bodyPr/>
                    <a:lstStyle/>
                    <a:p>
                      <a:r>
                        <a:rPr lang="en-US" sz="1600" dirty="0"/>
                        <a:t>Please be patient, first years are not third years and third years are not first years so we are all at different stages and have different amount of knowledge and experience. Would like to learn more from him but not sure he has the patience for first years</a:t>
                      </a:r>
                    </a:p>
                  </a:txBody>
                  <a:tcPr/>
                </a:tc>
                <a:extLst>
                  <a:ext uri="{0D108BD9-81ED-4DB2-BD59-A6C34878D82A}">
                    <a16:rowId xmlns:a16="http://schemas.microsoft.com/office/drawing/2014/main" val="10002"/>
                  </a:ext>
                </a:extLst>
              </a:tr>
              <a:tr h="370840">
                <a:tc>
                  <a:txBody>
                    <a:bodyPr/>
                    <a:lstStyle/>
                    <a:p>
                      <a:r>
                        <a:rPr lang="en-US" sz="1600" dirty="0"/>
                        <a:t>Sometimes if Dr Andreasen-Cocker is having a more difficult day, it can show indirectly. </a:t>
                      </a:r>
                    </a:p>
                  </a:txBody>
                  <a:tcPr/>
                </a:tc>
                <a:extLst>
                  <a:ext uri="{0D108BD9-81ED-4DB2-BD59-A6C34878D82A}">
                    <a16:rowId xmlns:a16="http://schemas.microsoft.com/office/drawing/2014/main" val="10003"/>
                  </a:ext>
                </a:extLst>
              </a:tr>
              <a:tr h="370840">
                <a:tc>
                  <a:txBody>
                    <a:bodyPr/>
                    <a:lstStyle/>
                    <a:p>
                      <a:r>
                        <a:rPr lang="en-US" sz="1600" dirty="0"/>
                        <a:t>He can sometimes become impatient and step in, which can make working with him stressful. It would be beneficial if he allowed students more opportunities to apply his feedback independently.</a:t>
                      </a:r>
                    </a:p>
                  </a:txBody>
                  <a:tcPr/>
                </a:tc>
                <a:extLst>
                  <a:ext uri="{0D108BD9-81ED-4DB2-BD59-A6C34878D82A}">
                    <a16:rowId xmlns:a16="http://schemas.microsoft.com/office/drawing/2014/main" val="10004"/>
                  </a:ext>
                </a:extLst>
              </a:tr>
              <a:tr h="370840">
                <a:tc>
                  <a:txBody>
                    <a:bodyPr/>
                    <a:lstStyle/>
                    <a:p>
                      <a:r>
                        <a:rPr lang="en-US" sz="1600" dirty="0"/>
                        <a:t>Dr Andreasen-Cocker's style of teaching is most beneficial in second semester of first year and beyond in our training. His GA list is quite challenging and tightly booked; it can be a difficult environment to introduce a postgraduate to a theatre environment. As a result, if on this list in first year semester, there is not enough time or focus on training on basic GA fundamentals. This can result in limited teaching moments for the post-grad and stress or frustration for Dr Andreasen-Cocker</a:t>
                      </a:r>
                    </a:p>
                  </a:txBody>
                  <a:tcPr/>
                </a:tc>
                <a:extLst>
                  <a:ext uri="{0D108BD9-81ED-4DB2-BD59-A6C34878D82A}">
                    <a16:rowId xmlns:a16="http://schemas.microsoft.com/office/drawing/2014/main" val="10005"/>
                  </a:ext>
                </a:extLst>
              </a:tr>
              <a:tr h="370840">
                <a:tc>
                  <a:txBody>
                    <a:bodyPr/>
                    <a:lstStyle/>
                    <a:p>
                      <a:r>
                        <a:rPr lang="en-US" sz="1600" dirty="0"/>
                        <a:t>More patience during the initial stage of learning how GA works and the processes to follow</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Q27 - If you could give Dr. Andreasen-Cocker advice on his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94996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Dr. Andreasen-Cocker advice on his teaching, what would you say?</a:t>
                      </a:r>
                    </a:p>
                  </a:txBody>
                  <a:tcPr/>
                </a:tc>
                <a:extLst>
                  <a:ext uri="{0D108BD9-81ED-4DB2-BD59-A6C34878D82A}">
                    <a16:rowId xmlns:a16="http://schemas.microsoft.com/office/drawing/2014/main" val="10000"/>
                  </a:ext>
                </a:extLst>
              </a:tr>
              <a:tr h="370840">
                <a:tc>
                  <a:txBody>
                    <a:bodyPr/>
                    <a:lstStyle/>
                    <a:p>
                      <a:r>
                        <a:rPr lang="en-US" sz="1600" dirty="0"/>
                        <a:t>No advice to give - I am thankful for his enthusiastic teaching style and how readily available he is to discuss all areas of patient care (eg. patient management, social factors, CBCTs).</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Q28 - Dr. Kilpatrick was readily available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Q29 - Dr. Kilpatrick was patient with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Q30 - Dr. Kilpatrick was interested in my progress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Q31 - Dr. Kilpatrick was up-to-date with clinical practices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Q32 - Dr. Kilpatrick provided useful information to help my skills develop</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Q33 - Dr. Kilpatrick gave timely and constructive feedback</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Q34 - What were the best aspects of Dr. Kilpatrick's teaching?</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515620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Dr. Kilpatrick's teaching?</a:t>
                      </a:r>
                    </a:p>
                  </a:txBody>
                  <a:tcPr/>
                </a:tc>
                <a:extLst>
                  <a:ext uri="{0D108BD9-81ED-4DB2-BD59-A6C34878D82A}">
                    <a16:rowId xmlns:a16="http://schemas.microsoft.com/office/drawing/2014/main" val="10000"/>
                  </a:ext>
                </a:extLst>
              </a:tr>
              <a:tr h="370840">
                <a:tc>
                  <a:txBody>
                    <a:bodyPr/>
                    <a:lstStyle/>
                    <a:p>
                      <a:r>
                        <a:rPr lang="en-US" sz="1600" dirty="0"/>
                        <a:t>Dr Kilpatrick is humble, patient and has a wealth of knowledge and experience. She is able to teach in a genuine and non-condescending way which I appreciate. </a:t>
                      </a:r>
                    </a:p>
                  </a:txBody>
                  <a:tcPr/>
                </a:tc>
                <a:extLst>
                  <a:ext uri="{0D108BD9-81ED-4DB2-BD59-A6C34878D82A}">
                    <a16:rowId xmlns:a16="http://schemas.microsoft.com/office/drawing/2014/main" val="10001"/>
                  </a:ext>
                </a:extLst>
              </a:tr>
              <a:tr h="370840">
                <a:tc>
                  <a:txBody>
                    <a:bodyPr/>
                    <a:lstStyle/>
                    <a:p>
                      <a:r>
                        <a:rPr lang="en-US" sz="1600" dirty="0"/>
                        <a:t>So patient and kind and constructive when giving feedback and asking you why this, why that when presenting your treatment plan, genuinely interested in your progress</a:t>
                      </a:r>
                    </a:p>
                  </a:txBody>
                  <a:tcPr/>
                </a:tc>
                <a:extLst>
                  <a:ext uri="{0D108BD9-81ED-4DB2-BD59-A6C34878D82A}">
                    <a16:rowId xmlns:a16="http://schemas.microsoft.com/office/drawing/2014/main" val="10002"/>
                  </a:ext>
                </a:extLst>
              </a:tr>
              <a:tr h="370840">
                <a:tc>
                  <a:txBody>
                    <a:bodyPr/>
                    <a:lstStyle/>
                    <a:p>
                      <a:r>
                        <a:rPr lang="en-US" sz="1600" dirty="0"/>
                        <a:t>Dr Kilpatrick provides a very supportive environment where I feel it is easy to ask questions without feeling apprehensive. She also has a wealth of knowledge and experience and also seems very relatable. </a:t>
                      </a:r>
                    </a:p>
                  </a:txBody>
                  <a:tcPr/>
                </a:tc>
                <a:extLst>
                  <a:ext uri="{0D108BD9-81ED-4DB2-BD59-A6C34878D82A}">
                    <a16:rowId xmlns:a16="http://schemas.microsoft.com/office/drawing/2014/main" val="10003"/>
                  </a:ext>
                </a:extLst>
              </a:tr>
              <a:tr h="370840">
                <a:tc>
                  <a:txBody>
                    <a:bodyPr/>
                    <a:lstStyle/>
                    <a:p>
                      <a:r>
                        <a:rPr lang="en-US" sz="1600" dirty="0"/>
                        <a:t>Dr Kilpatrick is extremely friendly and approachable, which makes it easy to discuss cases with her and ask for advice when unsure. </a:t>
                      </a:r>
                    </a:p>
                  </a:txBody>
                  <a:tcPr/>
                </a:tc>
                <a:extLst>
                  <a:ext uri="{0D108BD9-81ED-4DB2-BD59-A6C34878D82A}">
                    <a16:rowId xmlns:a16="http://schemas.microsoft.com/office/drawing/2014/main" val="10004"/>
                  </a:ext>
                </a:extLst>
              </a:tr>
              <a:tr h="370840">
                <a:tc>
                  <a:txBody>
                    <a:bodyPr/>
                    <a:lstStyle/>
                    <a:p>
                      <a:r>
                        <a:rPr lang="en-US" sz="1600" dirty="0"/>
                        <a:t>Dr Kilpatrick is a great teacher and leader that has contributed towards a positive learning environment. Her ongoing passion for learning and collaboration is contagious. Her feedback is timely and constructive, I feel that I have learned a great deal from her.  </a:t>
                      </a:r>
                    </a:p>
                  </a:txBody>
                  <a:tcPr/>
                </a:tc>
                <a:extLst>
                  <a:ext uri="{0D108BD9-81ED-4DB2-BD59-A6C34878D82A}">
                    <a16:rowId xmlns:a16="http://schemas.microsoft.com/office/drawing/2014/main" val="10005"/>
                  </a:ext>
                </a:extLst>
              </a:tr>
              <a:tr h="370840">
                <a:tc>
                  <a:txBody>
                    <a:bodyPr/>
                    <a:lstStyle/>
                    <a:p>
                      <a:r>
                        <a:rPr lang="en-US" sz="1600" dirty="0"/>
                        <a:t>Very patient and supportive learning environment. Always happy to have a healthy discussion and challenge our thinking</a:t>
                      </a:r>
                    </a:p>
                  </a:txBody>
                  <a:tcPr/>
                </a:tc>
                <a:extLst>
                  <a:ext uri="{0D108BD9-81ED-4DB2-BD59-A6C34878D82A}">
                    <a16:rowId xmlns:a16="http://schemas.microsoft.com/office/drawing/2014/main" val="10006"/>
                  </a:ext>
                </a:extLst>
              </a:tr>
              <a:tr h="370840">
                <a:tc>
                  <a:txBody>
                    <a:bodyPr/>
                    <a:lstStyle/>
                    <a:p>
                      <a:r>
                        <a:rPr lang="en-US" sz="1600" dirty="0"/>
                        <a:t>Nicky is wealth of knowledge and is very passionate about paediatric dentistry. I enjoy her debates and the fact that we can disagree on a topic yet have an extremely enjoyable conversation; she makes me think and consider different perspectives.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Q35 - If you could give Dr. Kilpatrick advice on her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25958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Dr. Kilpatrick advice on her teaching, what would you say?</a:t>
                      </a:r>
                    </a:p>
                  </a:txBody>
                  <a:tcPr/>
                </a:tc>
                <a:extLst>
                  <a:ext uri="{0D108BD9-81ED-4DB2-BD59-A6C34878D82A}">
                    <a16:rowId xmlns:a16="http://schemas.microsoft.com/office/drawing/2014/main" val="10000"/>
                  </a:ext>
                </a:extLst>
              </a:tr>
              <a:tr h="370840">
                <a:tc>
                  <a:txBody>
                    <a:bodyPr/>
                    <a:lstStyle/>
                    <a:p>
                      <a:r>
                        <a:rPr lang="en-US" sz="1600" dirty="0"/>
                        <a:t>None</a:t>
                      </a:r>
                    </a:p>
                  </a:txBody>
                  <a:tcPr/>
                </a:tc>
                <a:extLst>
                  <a:ext uri="{0D108BD9-81ED-4DB2-BD59-A6C34878D82A}">
                    <a16:rowId xmlns:a16="http://schemas.microsoft.com/office/drawing/2014/main" val="10001"/>
                  </a:ext>
                </a:extLst>
              </a:tr>
              <a:tr h="370840">
                <a:tc>
                  <a:txBody>
                    <a:bodyPr/>
                    <a:lstStyle/>
                    <a:p>
                      <a:r>
                        <a:rPr lang="en-US" sz="1600" dirty="0"/>
                        <a:t>Please don’t leave until we finish (all of us!)</a:t>
                      </a:r>
                    </a:p>
                  </a:txBody>
                  <a:tcPr/>
                </a:tc>
                <a:extLst>
                  <a:ext uri="{0D108BD9-81ED-4DB2-BD59-A6C34878D82A}">
                    <a16:rowId xmlns:a16="http://schemas.microsoft.com/office/drawing/2014/main" val="10002"/>
                  </a:ext>
                </a:extLst>
              </a:tr>
              <a:tr h="370840">
                <a:tc>
                  <a:txBody>
                    <a:bodyPr/>
                    <a:lstStyle/>
                    <a:p>
                      <a:r>
                        <a:rPr lang="en-US" sz="1600" dirty="0"/>
                        <a:t>Not much.</a:t>
                      </a:r>
                    </a:p>
                  </a:txBody>
                  <a:tcPr/>
                </a:tc>
                <a:extLst>
                  <a:ext uri="{0D108BD9-81ED-4DB2-BD59-A6C34878D82A}">
                    <a16:rowId xmlns:a16="http://schemas.microsoft.com/office/drawing/2014/main" val="10003"/>
                  </a:ext>
                </a:extLst>
              </a:tr>
              <a:tr h="370840">
                <a:tc>
                  <a:txBody>
                    <a:bodyPr/>
                    <a:lstStyle/>
                    <a:p>
                      <a:r>
                        <a:rPr lang="en-US" sz="1600" dirty="0"/>
                        <a:t>Would be great if we received ongoing feedback on areas that need improvement. </a:t>
                      </a:r>
                    </a:p>
                  </a:txBody>
                  <a:tcPr/>
                </a:tc>
                <a:extLst>
                  <a:ext uri="{0D108BD9-81ED-4DB2-BD59-A6C34878D82A}">
                    <a16:rowId xmlns:a16="http://schemas.microsoft.com/office/drawing/2014/main" val="10004"/>
                  </a:ext>
                </a:extLst>
              </a:tr>
              <a:tr h="370840">
                <a:tc>
                  <a:txBody>
                    <a:bodyPr/>
                    <a:lstStyle/>
                    <a:p>
                      <a:r>
                        <a:rPr lang="en-US" sz="1600" dirty="0"/>
                        <a:t>Would appreciate more time to learn from Dr Kilpatrick in a clinical setting</a:t>
                      </a:r>
                    </a:p>
                  </a:txBody>
                  <a:tcPr/>
                </a:tc>
                <a:extLst>
                  <a:ext uri="{0D108BD9-81ED-4DB2-BD59-A6C34878D82A}">
                    <a16:rowId xmlns:a16="http://schemas.microsoft.com/office/drawing/2014/main" val="10005"/>
                  </a:ext>
                </a:extLst>
              </a:tr>
              <a:tr h="370840">
                <a:tc>
                  <a:txBody>
                    <a:bodyPr/>
                    <a:lstStyle/>
                    <a:p>
                      <a:r>
                        <a:rPr lang="en-US" sz="1600" dirty="0"/>
                        <a:t>Do not change a single thing - you are an excellent teacher and a wonderful mentor.</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Q36 - The RCH staff were readily available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Q37 - The RCH staff were patient with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Q38 - The RCH staff were interested in my progress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Q39 - The RCH staff were up-to-date with clinical practices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Q40 - The RCH staff gave me useful information to help my skills develop</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Q41 - The RCH staff gave timely and constructive feedback</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Q42 - What were the best aspects of RCH staff teaching?</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8564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RCH staff teaching?</a:t>
                      </a:r>
                    </a:p>
                  </a:txBody>
                  <a:tcPr/>
                </a:tc>
                <a:extLst>
                  <a:ext uri="{0D108BD9-81ED-4DB2-BD59-A6C34878D82A}">
                    <a16:rowId xmlns:a16="http://schemas.microsoft.com/office/drawing/2014/main" val="10000"/>
                  </a:ext>
                </a:extLst>
              </a:tr>
              <a:tr h="370840">
                <a:tc>
                  <a:txBody>
                    <a:bodyPr/>
                    <a:lstStyle/>
                    <a:p>
                      <a:r>
                        <a:rPr lang="en-US" sz="1600" dirty="0"/>
                        <a:t>The environment at RCH is beneficial to my post-graduate studies as a whole - due to the exposure of a wide array of medical conditions. However, there is not a lot of clinical treatment being undertaken, rather a lot of reviews which </a:t>
                      </a:r>
                    </a:p>
                  </a:txBody>
                  <a:tcPr/>
                </a:tc>
                <a:extLst>
                  <a:ext uri="{0D108BD9-81ED-4DB2-BD59-A6C34878D82A}">
                    <a16:rowId xmlns:a16="http://schemas.microsoft.com/office/drawing/2014/main" val="10001"/>
                  </a:ext>
                </a:extLst>
              </a:tr>
              <a:tr h="370840">
                <a:tc>
                  <a:txBody>
                    <a:bodyPr/>
                    <a:lstStyle/>
                    <a:p>
                      <a:r>
                        <a:rPr lang="en-US" sz="1600" dirty="0"/>
                        <a:t>It’s a fantastic opportunity to learn about trauma and medically compromised children but unfortunately there is nothing I enjoy about the RCH teaching, it’s all very humiliating and condescending, except for Dr Luke Moloney who is very patient and willing to jump in and give you tips and tricks if you need</a:t>
                      </a:r>
                    </a:p>
                  </a:txBody>
                  <a:tcPr/>
                </a:tc>
                <a:extLst>
                  <a:ext uri="{0D108BD9-81ED-4DB2-BD59-A6C34878D82A}">
                    <a16:rowId xmlns:a16="http://schemas.microsoft.com/office/drawing/2014/main" val="10002"/>
                  </a:ext>
                </a:extLst>
              </a:tr>
              <a:tr h="370840">
                <a:tc>
                  <a:txBody>
                    <a:bodyPr/>
                    <a:lstStyle/>
                    <a:p>
                      <a:r>
                        <a:rPr lang="en-US" sz="1600" dirty="0"/>
                        <a:t>RCH staff have a lot of experience in complex medical issues. </a:t>
                      </a:r>
                    </a:p>
                  </a:txBody>
                  <a:tcPr/>
                </a:tc>
                <a:extLst>
                  <a:ext uri="{0D108BD9-81ED-4DB2-BD59-A6C34878D82A}">
                    <a16:rowId xmlns:a16="http://schemas.microsoft.com/office/drawing/2014/main" val="10003"/>
                  </a:ext>
                </a:extLst>
              </a:tr>
              <a:tr h="370840">
                <a:tc>
                  <a:txBody>
                    <a:bodyPr/>
                    <a:lstStyle/>
                    <a:p>
                      <a:r>
                        <a:rPr lang="en-US" sz="1600" dirty="0"/>
                        <a:t>RCH is a busy place, and the supervisors always make time to provide support and assistance with cases, despite their busy and hectic schedules. We really appreciate them doing this for us. </a:t>
                      </a:r>
                    </a:p>
                  </a:txBody>
                  <a:tcPr/>
                </a:tc>
                <a:extLst>
                  <a:ext uri="{0D108BD9-81ED-4DB2-BD59-A6C34878D82A}">
                    <a16:rowId xmlns:a16="http://schemas.microsoft.com/office/drawing/2014/main" val="10004"/>
                  </a:ext>
                </a:extLst>
              </a:tr>
              <a:tr h="370840">
                <a:tc>
                  <a:txBody>
                    <a:bodyPr/>
                    <a:lstStyle/>
                    <a:p>
                      <a:r>
                        <a:rPr lang="en-US" sz="1600" dirty="0"/>
                        <a:t>RCH is an environment that enforces a high level of preparation and critical thinking. I feel my time at RCH has pushed me to be more discerning and critical of my own abilities and my clinical judgement. I feel this has ultimately made me a better and more informed clinican. There is an emphasis on team work and the staff have been welcoming.  </a:t>
                      </a:r>
                    </a:p>
                  </a:txBody>
                  <a:tcPr/>
                </a:tc>
                <a:extLst>
                  <a:ext uri="{0D108BD9-81ED-4DB2-BD59-A6C34878D82A}">
                    <a16:rowId xmlns:a16="http://schemas.microsoft.com/office/drawing/2014/main" val="10005"/>
                  </a:ext>
                </a:extLst>
              </a:tr>
              <a:tr h="370840">
                <a:tc>
                  <a:txBody>
                    <a:bodyPr/>
                    <a:lstStyle/>
                    <a:p>
                      <a:r>
                        <a:rPr lang="en-US" sz="1600" dirty="0"/>
                        <a:t>Medical series was very interesting and helpful. Dr. Luke Moloney is a great teacher. Encouragement for self-directed learning. </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Q42 - What were the best aspects of RCH staff teaching?</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7416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RCH staff teaching?</a:t>
                      </a:r>
                    </a:p>
                  </a:txBody>
                  <a:tcPr/>
                </a:tc>
                <a:extLst>
                  <a:ext uri="{0D108BD9-81ED-4DB2-BD59-A6C34878D82A}">
                    <a16:rowId xmlns:a16="http://schemas.microsoft.com/office/drawing/2014/main" val="10000"/>
                  </a:ext>
                </a:extLst>
              </a:tr>
              <a:tr h="370840">
                <a:tc>
                  <a:txBody>
                    <a:bodyPr/>
                    <a:lstStyle/>
                    <a:p>
                      <a:r>
                        <a:rPr lang="en-US" sz="1600" dirty="0"/>
                        <a:t>Learning how to manage patients with complex medical needs.</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Q43 - If you could give advice to RCH staff on their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546100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advice to RCH staff on their teaching, what would you say?</a:t>
                      </a:r>
                    </a:p>
                  </a:txBody>
                  <a:tcPr/>
                </a:tc>
                <a:extLst>
                  <a:ext uri="{0D108BD9-81ED-4DB2-BD59-A6C34878D82A}">
                    <a16:rowId xmlns:a16="http://schemas.microsoft.com/office/drawing/2014/main" val="10000"/>
                  </a:ext>
                </a:extLst>
              </a:tr>
              <a:tr h="370840">
                <a:tc>
                  <a:txBody>
                    <a:bodyPr/>
                    <a:lstStyle/>
                    <a:p>
                      <a:r>
                        <a:rPr lang="en-US" sz="1600" dirty="0"/>
                        <a:t>Some of the RCH staff could be more patient and more readily give their knowledge without feeling belittled. </a:t>
                      </a:r>
                    </a:p>
                  </a:txBody>
                  <a:tcPr/>
                </a:tc>
                <a:extLst>
                  <a:ext uri="{0D108BD9-81ED-4DB2-BD59-A6C34878D82A}">
                    <a16:rowId xmlns:a16="http://schemas.microsoft.com/office/drawing/2014/main" val="10001"/>
                  </a:ext>
                </a:extLst>
              </a:tr>
              <a:tr h="370840">
                <a:tc>
                  <a:txBody>
                    <a:bodyPr/>
                    <a:lstStyle/>
                    <a:p>
                      <a:r>
                        <a:rPr lang="en-US" sz="1600" dirty="0"/>
                        <a:t>Please be kind and compassionate and patient. If you want me to come with a curious mind and I do, I prep as best I can to get all the information on whatever obscure piece of the puzzle you may require (often just to point out that I don’t know something not because you are genuinely interested in my learning and how this will affect my clinical judgement), I still don’t have all the answers, don’t punish me for it. I am still learning and you are meant to be teaching me, not belittling me and making me so unenthusiastic and anxious about my sessions there so I don’t even want to ask any questions.</a:t>
                      </a:r>
                    </a:p>
                  </a:txBody>
                  <a:tcPr/>
                </a:tc>
                <a:extLst>
                  <a:ext uri="{0D108BD9-81ED-4DB2-BD59-A6C34878D82A}">
                    <a16:rowId xmlns:a16="http://schemas.microsoft.com/office/drawing/2014/main" val="10002"/>
                  </a:ext>
                </a:extLst>
              </a:tr>
              <a:tr h="370840">
                <a:tc>
                  <a:txBody>
                    <a:bodyPr/>
                    <a:lstStyle/>
                    <a:p>
                      <a:r>
                        <a:rPr lang="en-US" sz="1600" dirty="0"/>
                        <a:t>I feel it is difficult to ask questions for learning, there is a general atmosphere that asking questions feels inappropriate. I would like to be able to ask more questions without feeling  apprehensive as all the staff have extensive medical knowledge on the vast range of conditions at RCH. </a:t>
                      </a:r>
                    </a:p>
                  </a:txBody>
                  <a:tcPr/>
                </a:tc>
                <a:extLst>
                  <a:ext uri="{0D108BD9-81ED-4DB2-BD59-A6C34878D82A}">
                    <a16:rowId xmlns:a16="http://schemas.microsoft.com/office/drawing/2014/main" val="10003"/>
                  </a:ext>
                </a:extLst>
              </a:tr>
              <a:tr h="370840">
                <a:tc>
                  <a:txBody>
                    <a:bodyPr/>
                    <a:lstStyle/>
                    <a:p>
                      <a:r>
                        <a:rPr lang="en-US" sz="1600" dirty="0"/>
                        <a:t>Ongoing feedback on areas that need improvement, but also offer students an opportunity to implement this feedback and demonstrate improvement. </a:t>
                      </a:r>
                    </a:p>
                  </a:txBody>
                  <a:tcPr/>
                </a:tc>
                <a:extLst>
                  <a:ext uri="{0D108BD9-81ED-4DB2-BD59-A6C34878D82A}">
                    <a16:rowId xmlns:a16="http://schemas.microsoft.com/office/drawing/2014/main" val="10004"/>
                  </a:ext>
                </a:extLst>
              </a:tr>
              <a:tr h="370840">
                <a:tc>
                  <a:txBody>
                    <a:bodyPr/>
                    <a:lstStyle/>
                    <a:p>
                      <a:r>
                        <a:rPr lang="en-US" sz="1600" dirty="0"/>
                        <a:t>The high calibre of consultants, standard of care and complexity of the children at RCH alone are intimidating. Neither myself or my peers want to let our consultants or our patients down. However, given the most recent issues our peers have had at RCH, we are increasing anxious, fearful of being wrong, making a mistake or saying something silly. This is negatively affecting myself and my peers confidence and openness. </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Q43 - If you could give advice to RCH staff on their teaching, what would you say?</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201676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If you could give advice to RCH staff on their teaching, what would you say?</a:t>
                      </a:r>
                    </a:p>
                  </a:txBody>
                  <a:tcPr/>
                </a:tc>
                <a:extLst>
                  <a:ext uri="{0D108BD9-81ED-4DB2-BD59-A6C34878D82A}">
                    <a16:rowId xmlns:a16="http://schemas.microsoft.com/office/drawing/2014/main" val="10000"/>
                  </a:ext>
                </a:extLst>
              </a:tr>
              <a:tr h="370840">
                <a:tc>
                  <a:txBody>
                    <a:bodyPr/>
                    <a:lstStyle/>
                    <a:p>
                      <a:r>
                        <a:rPr lang="en-US" sz="1600" dirty="0"/>
                        <a:t>More constructive feedback if there are things you aren't sure about and a open environment where asking questions is encouraged</a:t>
                      </a:r>
                    </a:p>
                  </a:txBody>
                  <a:tcPr/>
                </a:tc>
                <a:extLst>
                  <a:ext uri="{0D108BD9-81ED-4DB2-BD59-A6C34878D82A}">
                    <a16:rowId xmlns:a16="http://schemas.microsoft.com/office/drawing/2014/main" val="10001"/>
                  </a:ext>
                </a:extLst>
              </a:tr>
              <a:tr h="370840">
                <a:tc>
                  <a:txBody>
                    <a:bodyPr/>
                    <a:lstStyle/>
                    <a:p>
                      <a:r>
                        <a:rPr lang="en-US" sz="1600" dirty="0"/>
                        <a:t>Provide calm and constructive feedback during or immediately after the clinical session, and be more approachable. The current teaching style is one of condescension and frustration; I do not feel like I can ask questions without receiving judgement for not already knowing the answers. While RCH is an important aspect of DCD, it is not an environment that is conducive to learning.</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Q44 - The specialty clinic in endodontics with Professor Parashos was instrumental to my learning in this field</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Q45 - Please make comments/suggestions about the specialty endodontics clinic</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37998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make comments/suggestions about the specialty endodontics clinic</a:t>
                      </a:r>
                    </a:p>
                  </a:txBody>
                  <a:tcPr/>
                </a:tc>
                <a:extLst>
                  <a:ext uri="{0D108BD9-81ED-4DB2-BD59-A6C34878D82A}">
                    <a16:rowId xmlns:a16="http://schemas.microsoft.com/office/drawing/2014/main" val="10000"/>
                  </a:ext>
                </a:extLst>
              </a:tr>
              <a:tr h="370840">
                <a:tc>
                  <a:txBody>
                    <a:bodyPr/>
                    <a:lstStyle/>
                    <a:p>
                      <a:r>
                        <a:rPr lang="en-US" sz="1600" dirty="0"/>
                        <a:t>None</a:t>
                      </a:r>
                    </a:p>
                  </a:txBody>
                  <a:tcPr/>
                </a:tc>
                <a:extLst>
                  <a:ext uri="{0D108BD9-81ED-4DB2-BD59-A6C34878D82A}">
                    <a16:rowId xmlns:a16="http://schemas.microsoft.com/office/drawing/2014/main" val="10001"/>
                  </a:ext>
                </a:extLst>
              </a:tr>
              <a:tr h="370840">
                <a:tc>
                  <a:txBody>
                    <a:bodyPr/>
                    <a:lstStyle/>
                    <a:p>
                      <a:r>
                        <a:rPr lang="en-US" sz="1600" dirty="0"/>
                        <a:t>If we could share around some endo cases so everyone gets a good spread, that’d be great, especially the rarer ones, regen/apexification/root burial </a:t>
                      </a:r>
                    </a:p>
                  </a:txBody>
                  <a:tcPr/>
                </a:tc>
                <a:extLst>
                  <a:ext uri="{0D108BD9-81ED-4DB2-BD59-A6C34878D82A}">
                    <a16:rowId xmlns:a16="http://schemas.microsoft.com/office/drawing/2014/main" val="10002"/>
                  </a:ext>
                </a:extLst>
              </a:tr>
              <a:tr h="370840">
                <a:tc>
                  <a:txBody>
                    <a:bodyPr/>
                    <a:lstStyle/>
                    <a:p>
                      <a:r>
                        <a:rPr lang="en-US" sz="1600" dirty="0"/>
                        <a:t>I love the specialty clinic in endodontics! Professor Parashos is so knowledgeable and passionate. I would like to be able to have more sessions (as I have many endodontic patients). </a:t>
                      </a:r>
                    </a:p>
                  </a:txBody>
                  <a:tcPr/>
                </a:tc>
                <a:extLst>
                  <a:ext uri="{0D108BD9-81ED-4DB2-BD59-A6C34878D82A}">
                    <a16:rowId xmlns:a16="http://schemas.microsoft.com/office/drawing/2014/main" val="10003"/>
                  </a:ext>
                </a:extLst>
              </a:tr>
              <a:tr h="370840">
                <a:tc>
                  <a:txBody>
                    <a:bodyPr/>
                    <a:lstStyle/>
                    <a:p>
                      <a:r>
                        <a:rPr lang="en-US" sz="1600" dirty="0"/>
                        <a:t>Nil specific </a:t>
                      </a:r>
                    </a:p>
                  </a:txBody>
                  <a:tcPr/>
                </a:tc>
                <a:extLst>
                  <a:ext uri="{0D108BD9-81ED-4DB2-BD59-A6C34878D82A}">
                    <a16:rowId xmlns:a16="http://schemas.microsoft.com/office/drawing/2014/main" val="10004"/>
                  </a:ext>
                </a:extLst>
              </a:tr>
              <a:tr h="370840">
                <a:tc>
                  <a:txBody>
                    <a:bodyPr/>
                    <a:lstStyle/>
                    <a:p>
                      <a:r>
                        <a:rPr lang="en-US" sz="1600" dirty="0"/>
                        <a:t>I am incredibly grateful for Prof Parashos' generosity with his time and insight. His sessions are incredibly valuable and I have learnt a great deal from him. I only wish we had more sessions.</a:t>
                      </a:r>
                    </a:p>
                  </a:txBody>
                  <a:tcPr/>
                </a:tc>
                <a:extLst>
                  <a:ext uri="{0D108BD9-81ED-4DB2-BD59-A6C34878D82A}">
                    <a16:rowId xmlns:a16="http://schemas.microsoft.com/office/drawing/2014/main" val="10005"/>
                  </a:ext>
                </a:extLst>
              </a:tr>
              <a:tr h="370840">
                <a:tc>
                  <a:txBody>
                    <a:bodyPr/>
                    <a:lstStyle/>
                    <a:p>
                      <a:r>
                        <a:rPr lang="en-US" sz="1600" dirty="0"/>
                        <a:t>Great clinic. Having additional nitrous availability would be helpful </a:t>
                      </a:r>
                    </a:p>
                  </a:txBody>
                  <a:tcPr/>
                </a:tc>
                <a:extLst>
                  <a:ext uri="{0D108BD9-81ED-4DB2-BD59-A6C34878D82A}">
                    <a16:rowId xmlns:a16="http://schemas.microsoft.com/office/drawing/2014/main" val="10006"/>
                  </a:ext>
                </a:extLst>
              </a:tr>
              <a:tr h="370840">
                <a:tc>
                  <a:txBody>
                    <a:bodyPr/>
                    <a:lstStyle/>
                    <a:p>
                      <a:r>
                        <a:rPr lang="en-US" sz="1600" dirty="0"/>
                        <a:t>We need more access to nitrous oxide sedation. Prof has been very helpful both during and outside of the speciality endodontic clinic in assisting with endodontic cases.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Q46 - The specialty clinic in interceptive orthodontics with Dr. Bokas was instrumental to my learning in this field</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Q47 - Please make comments/suggestions about the interceptive orthodontic clinic</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6126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make comments/suggestions about the interceptive orthodontic clinic</a:t>
                      </a:r>
                    </a:p>
                  </a:txBody>
                  <a:tcPr/>
                </a:tc>
                <a:extLst>
                  <a:ext uri="{0D108BD9-81ED-4DB2-BD59-A6C34878D82A}">
                    <a16:rowId xmlns:a16="http://schemas.microsoft.com/office/drawing/2014/main" val="10000"/>
                  </a:ext>
                </a:extLst>
              </a:tr>
              <a:tr h="370840">
                <a:tc>
                  <a:txBody>
                    <a:bodyPr/>
                    <a:lstStyle/>
                    <a:p>
                      <a:r>
                        <a:rPr lang="en-US" sz="1600" dirty="0"/>
                        <a:t>We are being guided and told (nicely) what to do, but sometimes I don't understand 'why' I'm doing it as I feel the clinic is too busy to ask questions. </a:t>
                      </a:r>
                    </a:p>
                  </a:txBody>
                  <a:tcPr/>
                </a:tc>
                <a:extLst>
                  <a:ext uri="{0D108BD9-81ED-4DB2-BD59-A6C34878D82A}">
                    <a16:rowId xmlns:a16="http://schemas.microsoft.com/office/drawing/2014/main" val="10001"/>
                  </a:ext>
                </a:extLst>
              </a:tr>
              <a:tr h="370840">
                <a:tc>
                  <a:txBody>
                    <a:bodyPr/>
                    <a:lstStyle/>
                    <a:p>
                      <a:r>
                        <a:rPr lang="en-US" sz="1600" dirty="0"/>
                        <a:t>Same as endo clinic…please could we share</a:t>
                      </a:r>
                    </a:p>
                  </a:txBody>
                  <a:tcPr/>
                </a:tc>
                <a:extLst>
                  <a:ext uri="{0D108BD9-81ED-4DB2-BD59-A6C34878D82A}">
                    <a16:rowId xmlns:a16="http://schemas.microsoft.com/office/drawing/2014/main" val="10002"/>
                  </a:ext>
                </a:extLst>
              </a:tr>
              <a:tr h="370840">
                <a:tc>
                  <a:txBody>
                    <a:bodyPr/>
                    <a:lstStyle/>
                    <a:p>
                      <a:r>
                        <a:rPr lang="en-US" sz="1600" dirty="0"/>
                        <a:t>I also love the interceptive orthodontic clinic! It feels quite busy at times which may be overwhelming for Dr Bokas, but his time is very appreciated. The only suggestion I would have, is allowing time for the PG to think or explain why a certain treatment decision is made or a certain treatment is being performed. </a:t>
                      </a:r>
                    </a:p>
                  </a:txBody>
                  <a:tcPr/>
                </a:tc>
                <a:extLst>
                  <a:ext uri="{0D108BD9-81ED-4DB2-BD59-A6C34878D82A}">
                    <a16:rowId xmlns:a16="http://schemas.microsoft.com/office/drawing/2014/main" val="10003"/>
                  </a:ext>
                </a:extLst>
              </a:tr>
              <a:tr h="370840">
                <a:tc>
                  <a:txBody>
                    <a:bodyPr/>
                    <a:lstStyle/>
                    <a:p>
                      <a:r>
                        <a:rPr lang="en-US" sz="1600" dirty="0"/>
                        <a:t>Really enjoyed the viva practice sessions at the end of the year and feel this helped improve our learning and understanding of ortho a lot! Think we would benefit from doing these more regularly. </a:t>
                      </a:r>
                    </a:p>
                  </a:txBody>
                  <a:tcPr/>
                </a:tc>
                <a:extLst>
                  <a:ext uri="{0D108BD9-81ED-4DB2-BD59-A6C34878D82A}">
                    <a16:rowId xmlns:a16="http://schemas.microsoft.com/office/drawing/2014/main" val="10004"/>
                  </a:ext>
                </a:extLst>
              </a:tr>
              <a:tr h="370840">
                <a:tc>
                  <a:txBody>
                    <a:bodyPr/>
                    <a:lstStyle/>
                    <a:p>
                      <a:r>
                        <a:rPr lang="en-US" sz="1600" dirty="0"/>
                        <a:t>I am very grateful for the time Dr Bokas commits to our learning. His sessions are valued and enhanced by understanding of interceptive orthodontics. I am very appreciative of the time he spends after-hours assisting us. I feel the frequency of this clinic is appropriate.</a:t>
                      </a:r>
                    </a:p>
                  </a:txBody>
                  <a:tcPr/>
                </a:tc>
                <a:extLst>
                  <a:ext uri="{0D108BD9-81ED-4DB2-BD59-A6C34878D82A}">
                    <a16:rowId xmlns:a16="http://schemas.microsoft.com/office/drawing/2014/main" val="10005"/>
                  </a:ext>
                </a:extLst>
              </a:tr>
              <a:tr h="370840">
                <a:tc>
                  <a:txBody>
                    <a:bodyPr/>
                    <a:lstStyle/>
                    <a:p>
                      <a:r>
                        <a:rPr lang="en-US" sz="1600" dirty="0"/>
                        <a:t>Jim is very supportive of our learning. Clinic can get very busy if there is lots of treatment but this seems to have improved over the past few sessions. </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Q47 - Please make comments/suggestions about the interceptive orthodontic clinic</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119380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make comments/suggestions about the interceptive orthodontic clinic</a:t>
                      </a:r>
                    </a:p>
                  </a:txBody>
                  <a:tcPr/>
                </a:tc>
                <a:extLst>
                  <a:ext uri="{0D108BD9-81ED-4DB2-BD59-A6C34878D82A}">
                    <a16:rowId xmlns:a16="http://schemas.microsoft.com/office/drawing/2014/main" val="10000"/>
                  </a:ext>
                </a:extLst>
              </a:tr>
              <a:tr h="370840">
                <a:tc>
                  <a:txBody>
                    <a:bodyPr/>
                    <a:lstStyle/>
                    <a:p>
                      <a:r>
                        <a:rPr lang="en-US" sz="1600" dirty="0"/>
                        <a:t>It is a well-run clinic with no improvements to be made. Jim has been extremely generous with his time and has explained orthodontics in a logical manner that is readily applicable to paediatric dentistry.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 – Please comment on you experience at </a:t>
            </a:r>
            <a:r>
              <a:rPr lang="en-US" sz="2200"/>
              <a:t>Rumbalara</a:t>
            </a:r>
            <a:endParaRPr lang="en-US" sz="2200" dirty="0"/>
          </a:p>
        </p:txBody>
      </p:sp>
      <p:sp>
        <p:nvSpPr>
          <p:cNvPr id="5" name="TextBox 4">
            <a:extLst>
              <a:ext uri="{FF2B5EF4-FFF2-40B4-BE49-F238E27FC236}">
                <a16:creationId xmlns:a16="http://schemas.microsoft.com/office/drawing/2014/main" id="{CF3CA85D-46F9-3771-D62F-AF648AD5B463}"/>
              </a:ext>
            </a:extLst>
          </p:cNvPr>
          <p:cNvSpPr txBox="1"/>
          <p:nvPr/>
        </p:nvSpPr>
        <p:spPr>
          <a:xfrm>
            <a:off x="200000" y="969484"/>
            <a:ext cx="8944000" cy="2031325"/>
          </a:xfrm>
          <a:prstGeom prst="rect">
            <a:avLst/>
          </a:prstGeom>
          <a:noFill/>
        </p:spPr>
        <p:txBody>
          <a:bodyPr wrap="square">
            <a:spAutoFit/>
          </a:bodyPr>
          <a:lstStyle/>
          <a:p>
            <a:pPr algn="l"/>
            <a:r>
              <a:rPr lang="en-AU" sz="1800" b="0" i="0" u="none" strike="noStrike" dirty="0" err="1">
                <a:solidFill>
                  <a:srgbClr val="000000"/>
                </a:solidFill>
                <a:effectLst/>
                <a:latin typeface="Aptos" panose="020B0004020202020204" pitchFamily="34" charset="0"/>
              </a:rPr>
              <a:t>Rumbalara</a:t>
            </a:r>
            <a:r>
              <a:rPr lang="en-AU" sz="1800" b="0" i="0" u="none" strike="noStrike" dirty="0">
                <a:solidFill>
                  <a:srgbClr val="000000"/>
                </a:solidFill>
                <a:effectLst/>
                <a:latin typeface="Aptos" panose="020B0004020202020204" pitchFamily="34" charset="0"/>
              </a:rPr>
              <a:t> was really great. I really enjoyed being there and I think being able to do the assessments for DSU was very valuable for a lot of the patients where transport to Melbourne for multiple appointments is an issue.</a:t>
            </a:r>
          </a:p>
          <a:p>
            <a:pPr algn="l"/>
            <a:r>
              <a:rPr lang="en-AU" sz="1800" b="0" i="0" u="none" strike="noStrike" dirty="0">
                <a:solidFill>
                  <a:srgbClr val="000000"/>
                </a:solidFill>
                <a:effectLst/>
                <a:latin typeface="Aptos" panose="020B0004020202020204" pitchFamily="34" charset="0"/>
              </a:rPr>
              <a:t>I think being there for longer than 2 days would be more beneficial for the clinic because we can then treatment plan and complete some of the treatment rather than treatment plan for the other staff to complete. We can also hopefully give them more nitrous appointments during that week.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F2E7-3F1C-01A4-6F2C-1204BE8BE05D}"/>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0B915106-178E-8120-2EC4-35360CBB6F04}"/>
              </a:ext>
            </a:extLst>
          </p:cNvPr>
          <p:cNvSpPr txBox="1"/>
          <p:nvPr/>
        </p:nvSpPr>
        <p:spPr>
          <a:xfrm>
            <a:off x="200000" y="140000"/>
            <a:ext cx="8229600" cy="369332"/>
          </a:xfrm>
          <a:prstGeom prst="rect">
            <a:avLst/>
          </a:prstGeom>
          <a:noFill/>
        </p:spPr>
        <p:txBody>
          <a:bodyPr wrap="square" rtlCol="0"/>
          <a:lstStyle/>
          <a:p>
            <a:r>
              <a:rPr lang="en-US" sz="2200" dirty="0"/>
              <a:t>Q48 - The week-long anesthesia rotation I participated in during 2022 or 2023 was instrumental to my learning in this field</a:t>
            </a:r>
          </a:p>
        </p:txBody>
      </p:sp>
      <p:pic>
        <p:nvPicPr>
          <p:cNvPr id="3" name="Object 2">
            <a:extLst>
              <a:ext uri="{FF2B5EF4-FFF2-40B4-BE49-F238E27FC236}">
                <a16:creationId xmlns:a16="http://schemas.microsoft.com/office/drawing/2014/main" id="{EEE1F947-2DFA-A3AF-0C86-B80579CFD00C}"/>
              </a:ext>
            </a:extLst>
          </p:cNvPr>
          <p:cNvPicPr>
            <a:picLocks noChangeAspect="1"/>
          </p:cNvPicPr>
          <p:nvPr/>
        </p:nvPicPr>
        <p:blipFill>
          <a:blip r:embed="rId2" cstate="print"/>
          <a:stretch>
            <a:fillRect/>
          </a:stretch>
        </p:blipFill>
        <p:spPr>
          <a:xfrm>
            <a:off x="572000" y="1200000"/>
            <a:ext cx="8000000" cy="5000000"/>
          </a:xfrm>
          <a:prstGeom prst="rect">
            <a:avLst/>
          </a:prstGeom>
        </p:spPr>
      </p:pic>
    </p:spTree>
    <p:extLst>
      <p:ext uri="{BB962C8B-B14F-4D97-AF65-F5344CB8AC3E}">
        <p14:creationId xmlns:p14="http://schemas.microsoft.com/office/powerpoint/2010/main" val="5076257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Q49 - Please make comments/suggestions about your anesthesia experience</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23520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make comments/suggestions about your anesthesia experience</a:t>
                      </a:r>
                    </a:p>
                  </a:txBody>
                  <a:tcPr/>
                </a:tc>
                <a:extLst>
                  <a:ext uri="{0D108BD9-81ED-4DB2-BD59-A6C34878D82A}">
                    <a16:rowId xmlns:a16="http://schemas.microsoft.com/office/drawing/2014/main" val="10000"/>
                  </a:ext>
                </a:extLst>
              </a:tr>
              <a:tr h="370840">
                <a:tc>
                  <a:txBody>
                    <a:bodyPr/>
                    <a:lstStyle/>
                    <a:p>
                      <a:r>
                        <a:rPr lang="en-US" sz="1600" dirty="0"/>
                        <a:t>None - would have liked a broader variety of anaesthetists to shadow, however I understand that some anaesthetists may not be comfortable in being shadowed. </a:t>
                      </a:r>
                    </a:p>
                  </a:txBody>
                  <a:tcPr/>
                </a:tc>
                <a:extLst>
                  <a:ext uri="{0D108BD9-81ED-4DB2-BD59-A6C34878D82A}">
                    <a16:rowId xmlns:a16="http://schemas.microsoft.com/office/drawing/2014/main" val="10001"/>
                  </a:ext>
                </a:extLst>
              </a:tr>
              <a:tr h="370840">
                <a:tc>
                  <a:txBody>
                    <a:bodyPr/>
                    <a:lstStyle/>
                    <a:p>
                      <a:r>
                        <a:rPr lang="en-US" sz="1600" dirty="0"/>
                        <a:t>Would be useful to get an idea of what to say to parents when they ask the tricky questions. Great to know what the anesthetists would like to know from the surgeons. How anesthetics works in private practice </a:t>
                      </a:r>
                    </a:p>
                  </a:txBody>
                  <a:tcPr/>
                </a:tc>
                <a:extLst>
                  <a:ext uri="{0D108BD9-81ED-4DB2-BD59-A6C34878D82A}">
                    <a16:rowId xmlns:a16="http://schemas.microsoft.com/office/drawing/2014/main" val="10002"/>
                  </a:ext>
                </a:extLst>
              </a:tr>
              <a:tr h="370840">
                <a:tc>
                  <a:txBody>
                    <a:bodyPr/>
                    <a:lstStyle/>
                    <a:p>
                      <a:r>
                        <a:rPr lang="en-US" sz="1600" dirty="0"/>
                        <a:t>I enjoyed my anaesthetic rotation. I only shadowed 3 different anaesthetists, I feel like I would have loved to shadow a wider variety of anaesthetists. </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Q50 - The DDS clinical and preclinical teaching I participated in was a valuable experience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Q51 - Please make comments/suggestions about your DDS clinical and preclinical teaching experience</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0436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make comments/suggestions about your DDS clinical and preclinical teaching experience</a:t>
                      </a:r>
                    </a:p>
                  </a:txBody>
                  <a:tcPr/>
                </a:tc>
                <a:extLst>
                  <a:ext uri="{0D108BD9-81ED-4DB2-BD59-A6C34878D82A}">
                    <a16:rowId xmlns:a16="http://schemas.microsoft.com/office/drawing/2014/main" val="10000"/>
                  </a:ext>
                </a:extLst>
              </a:tr>
              <a:tr h="370840">
                <a:tc>
                  <a:txBody>
                    <a:bodyPr/>
                    <a:lstStyle/>
                    <a:p>
                      <a:r>
                        <a:rPr lang="en-US" sz="1600" dirty="0"/>
                        <a:t>This is a waste of my time as a paying DCD student - with fees over over $55,000. This time is better spent as research or even observing other paeds in GA or in the clinic. This is not valuable experience. </a:t>
                      </a:r>
                    </a:p>
                  </a:txBody>
                  <a:tcPr/>
                </a:tc>
                <a:extLst>
                  <a:ext uri="{0D108BD9-81ED-4DB2-BD59-A6C34878D82A}">
                    <a16:rowId xmlns:a16="http://schemas.microsoft.com/office/drawing/2014/main" val="10001"/>
                  </a:ext>
                </a:extLst>
              </a:tr>
              <a:tr h="370840">
                <a:tc>
                  <a:txBody>
                    <a:bodyPr/>
                    <a:lstStyle/>
                    <a:p>
                      <a:r>
                        <a:rPr lang="en-US" sz="1600" dirty="0"/>
                        <a:t>Didn’t enjoy this much…not enough treatment, too many exams. Is it possible for them to observe us for a session and then apply their skills in clinic</a:t>
                      </a:r>
                    </a:p>
                  </a:txBody>
                  <a:tcPr/>
                </a:tc>
                <a:extLst>
                  <a:ext uri="{0D108BD9-81ED-4DB2-BD59-A6C34878D82A}">
                    <a16:rowId xmlns:a16="http://schemas.microsoft.com/office/drawing/2014/main" val="10002"/>
                  </a:ext>
                </a:extLst>
              </a:tr>
              <a:tr h="370840">
                <a:tc>
                  <a:txBody>
                    <a:bodyPr/>
                    <a:lstStyle/>
                    <a:p>
                      <a:r>
                        <a:rPr lang="en-US" sz="1600" dirty="0"/>
                        <a:t>I would rather have research time. </a:t>
                      </a:r>
                    </a:p>
                  </a:txBody>
                  <a:tcPr/>
                </a:tc>
                <a:extLst>
                  <a:ext uri="{0D108BD9-81ED-4DB2-BD59-A6C34878D82A}">
                    <a16:rowId xmlns:a16="http://schemas.microsoft.com/office/drawing/2014/main" val="10003"/>
                  </a:ext>
                </a:extLst>
              </a:tr>
              <a:tr h="370840">
                <a:tc>
                  <a:txBody>
                    <a:bodyPr/>
                    <a:lstStyle/>
                    <a:p>
                      <a:r>
                        <a:rPr lang="en-US" sz="1600" dirty="0"/>
                        <a:t>Nil specific </a:t>
                      </a:r>
                    </a:p>
                  </a:txBody>
                  <a:tcPr/>
                </a:tc>
                <a:extLst>
                  <a:ext uri="{0D108BD9-81ED-4DB2-BD59-A6C34878D82A}">
                    <a16:rowId xmlns:a16="http://schemas.microsoft.com/office/drawing/2014/main" val="10004"/>
                  </a:ext>
                </a:extLst>
              </a:tr>
              <a:tr h="370840">
                <a:tc>
                  <a:txBody>
                    <a:bodyPr/>
                    <a:lstStyle/>
                    <a:p>
                      <a:r>
                        <a:rPr lang="en-US" sz="1600" dirty="0"/>
                        <a:t>This opportunity allows us to consolidate our learning through teaching; this is appreciated and valued. Dr Loo's passion for teaching is infectious. </a:t>
                      </a:r>
                    </a:p>
                  </a:txBody>
                  <a:tcPr/>
                </a:tc>
                <a:extLst>
                  <a:ext uri="{0D108BD9-81ED-4DB2-BD59-A6C34878D82A}">
                    <a16:rowId xmlns:a16="http://schemas.microsoft.com/office/drawing/2014/main" val="10005"/>
                  </a:ext>
                </a:extLst>
              </a:tr>
              <a:tr h="370840">
                <a:tc>
                  <a:txBody>
                    <a:bodyPr/>
                    <a:lstStyle/>
                    <a:p>
                      <a:r>
                        <a:rPr lang="en-US" sz="1600" dirty="0"/>
                        <a:t>Good experience</a:t>
                      </a:r>
                    </a:p>
                  </a:txBody>
                  <a:tcPr/>
                </a:tc>
                <a:extLst>
                  <a:ext uri="{0D108BD9-81ED-4DB2-BD59-A6C34878D82A}">
                    <a16:rowId xmlns:a16="http://schemas.microsoft.com/office/drawing/2014/main" val="10006"/>
                  </a:ext>
                </a:extLst>
              </a:tr>
              <a:tr h="370840">
                <a:tc>
                  <a:txBody>
                    <a:bodyPr/>
                    <a:lstStyle/>
                    <a:p>
                      <a:r>
                        <a:rPr lang="en-US" sz="1600" dirty="0"/>
                        <a:t>I learnt a lot from listening to Dr Siew May Loo, and having the opportunity to teach helps solidify my own understanding.</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Q59 - Please comment on your experience with the Common Core  - run for the first time in 2024</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25196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comment on your experience with the Common Core  - run for the first time in 2024</a:t>
                      </a:r>
                    </a:p>
                  </a:txBody>
                  <a:tcPr/>
                </a:tc>
                <a:extLst>
                  <a:ext uri="{0D108BD9-81ED-4DB2-BD59-A6C34878D82A}">
                    <a16:rowId xmlns:a16="http://schemas.microsoft.com/office/drawing/2014/main" val="10000"/>
                  </a:ext>
                </a:extLst>
              </a:tr>
              <a:tr h="370840">
                <a:tc>
                  <a:txBody>
                    <a:bodyPr/>
                    <a:lstStyle/>
                    <a:p>
                      <a:r>
                        <a:rPr lang="en-US" sz="1600" dirty="0"/>
                        <a:t>Not too many thoughts - sometimes some cases are too tedious as other specialties seem to question each other for the sake of questioning. </a:t>
                      </a:r>
                    </a:p>
                  </a:txBody>
                  <a:tcPr/>
                </a:tc>
                <a:extLst>
                  <a:ext uri="{0D108BD9-81ED-4DB2-BD59-A6C34878D82A}">
                    <a16:rowId xmlns:a16="http://schemas.microsoft.com/office/drawing/2014/main" val="10001"/>
                  </a:ext>
                </a:extLst>
              </a:tr>
              <a:tr h="370840">
                <a:tc>
                  <a:txBody>
                    <a:bodyPr/>
                    <a:lstStyle/>
                    <a:p>
                      <a:r>
                        <a:rPr lang="en-US" sz="1600" dirty="0"/>
                        <a:t>It has potential to be good. Maybe each discipline could give a presentation on something specific to their speciality and teach the rest of us. Not sure if cases were the best way to do this. </a:t>
                      </a:r>
                    </a:p>
                  </a:txBody>
                  <a:tcPr/>
                </a:tc>
                <a:extLst>
                  <a:ext uri="{0D108BD9-81ED-4DB2-BD59-A6C34878D82A}">
                    <a16:rowId xmlns:a16="http://schemas.microsoft.com/office/drawing/2014/main" val="10002"/>
                  </a:ext>
                </a:extLst>
              </a:tr>
              <a:tr h="370840">
                <a:tc>
                  <a:txBody>
                    <a:bodyPr/>
                    <a:lstStyle/>
                    <a:p>
                      <a:r>
                        <a:rPr lang="en-US" sz="1600" dirty="0"/>
                        <a:t>? applicability of some sessions for Paediatric Dentistry. Closer collaboration ie JOP may be more useful for Paeds. </a:t>
                      </a:r>
                    </a:p>
                  </a:txBody>
                  <a:tcPr/>
                </a:tc>
                <a:extLst>
                  <a:ext uri="{0D108BD9-81ED-4DB2-BD59-A6C34878D82A}">
                    <a16:rowId xmlns:a16="http://schemas.microsoft.com/office/drawing/2014/main" val="10003"/>
                  </a:ext>
                </a:extLst>
              </a:tr>
              <a:tr h="370840">
                <a:tc>
                  <a:txBody>
                    <a:bodyPr/>
                    <a:lstStyle/>
                    <a:p>
                      <a:r>
                        <a:rPr lang="en-US" sz="1600" dirty="0"/>
                        <a:t>Several sessions were outside the scope of Paeds. </a:t>
                      </a:r>
                    </a:p>
                  </a:txBody>
                  <a:tcPr/>
                </a:tc>
                <a:extLst>
                  <a:ext uri="{0D108BD9-81ED-4DB2-BD59-A6C34878D82A}">
                    <a16:rowId xmlns:a16="http://schemas.microsoft.com/office/drawing/2014/main" val="10004"/>
                  </a:ext>
                </a:extLst>
              </a:tr>
              <a:tr h="370840">
                <a:tc>
                  <a:txBody>
                    <a:bodyPr/>
                    <a:lstStyle/>
                    <a:p>
                      <a:r>
                        <a:rPr lang="en-US" sz="1600" dirty="0"/>
                        <a:t>Case discussions were highly valuable and interesting. Some lecture topics failed to include Paediatric Dentistry at all, however I can appreciate how this would be a challenge.</a:t>
                      </a:r>
                    </a:p>
                  </a:txBody>
                  <a:tcPr/>
                </a:tc>
                <a:extLst>
                  <a:ext uri="{0D108BD9-81ED-4DB2-BD59-A6C34878D82A}">
                    <a16:rowId xmlns:a16="http://schemas.microsoft.com/office/drawing/2014/main" val="10005"/>
                  </a:ext>
                </a:extLst>
              </a:tr>
              <a:tr h="370840">
                <a:tc>
                  <a:txBody>
                    <a:bodyPr/>
                    <a:lstStyle/>
                    <a:p>
                      <a:r>
                        <a:rPr lang="en-US" sz="1600" dirty="0"/>
                        <a:t>Nice to see the other disciplines regularly</a:t>
                      </a:r>
                    </a:p>
                  </a:txBody>
                  <a:tcPr/>
                </a:tc>
                <a:extLst>
                  <a:ext uri="{0D108BD9-81ED-4DB2-BD59-A6C34878D82A}">
                    <a16:rowId xmlns:a16="http://schemas.microsoft.com/office/drawing/2014/main" val="10006"/>
                  </a:ext>
                </a:extLst>
              </a:tr>
              <a:tr h="370840">
                <a:tc>
                  <a:txBody>
                    <a:bodyPr/>
                    <a:lstStyle/>
                    <a:p>
                      <a:r>
                        <a:rPr lang="en-US" sz="1600" dirty="0"/>
                        <a:t>It is admirable what Common Core is theoretically trying to achieve, however I personally didn't find it useful to my learning. As this course is very demanding for time, I feel it could have been better spent on other learning.</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Q52 - The Wednesday morning seminars were well-coordinated</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53 - The teaching was supported by useful learning resources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Q56 - The assessments were fair and useful for my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Q54 - I learnt new ideas/skills that I could apply to practice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Q55 - I felt part of a group committed to learning</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Q57 - What were the best aspects of this subject?</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48564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were the best aspects of this subject?</a:t>
                      </a:r>
                    </a:p>
                  </a:txBody>
                  <a:tcPr/>
                </a:tc>
                <a:extLst>
                  <a:ext uri="{0D108BD9-81ED-4DB2-BD59-A6C34878D82A}">
                    <a16:rowId xmlns:a16="http://schemas.microsoft.com/office/drawing/2014/main" val="10000"/>
                  </a:ext>
                </a:extLst>
              </a:tr>
              <a:tr h="370840">
                <a:tc>
                  <a:txBody>
                    <a:bodyPr/>
                    <a:lstStyle/>
                    <a:p>
                      <a:r>
                        <a:rPr lang="en-US" sz="1600" dirty="0"/>
                        <a:t>It is nice to get together and bounce ideas and experiences off each other.</a:t>
                      </a:r>
                    </a:p>
                  </a:txBody>
                  <a:tcPr/>
                </a:tc>
                <a:extLst>
                  <a:ext uri="{0D108BD9-81ED-4DB2-BD59-A6C34878D82A}">
                    <a16:rowId xmlns:a16="http://schemas.microsoft.com/office/drawing/2014/main" val="10001"/>
                  </a:ext>
                </a:extLst>
              </a:tr>
              <a:tr h="370840">
                <a:tc>
                  <a:txBody>
                    <a:bodyPr/>
                    <a:lstStyle/>
                    <a:p>
                      <a:r>
                        <a:rPr lang="en-US" sz="1600" dirty="0"/>
                        <a:t>The various contexts of which the students are exposed to. A well rounded mixture between didactic, research and practical teaching. Outreach rotation to Rumbalara. Please continue Ortho and Endo specific clinics these are very valuable learning sessions. </a:t>
                      </a:r>
                    </a:p>
                  </a:txBody>
                  <a:tcPr/>
                </a:tc>
                <a:extLst>
                  <a:ext uri="{0D108BD9-81ED-4DB2-BD59-A6C34878D82A}">
                    <a16:rowId xmlns:a16="http://schemas.microsoft.com/office/drawing/2014/main" val="10002"/>
                  </a:ext>
                </a:extLst>
              </a:tr>
              <a:tr h="370840">
                <a:tc>
                  <a:txBody>
                    <a:bodyPr/>
                    <a:lstStyle/>
                    <a:p>
                      <a:r>
                        <a:rPr lang="en-US" sz="1600" dirty="0"/>
                        <a:t>Loved being part of the group discussions this year, and some of them really challenged our understanding of concepts which was great! </a:t>
                      </a:r>
                    </a:p>
                  </a:txBody>
                  <a:tcPr/>
                </a:tc>
                <a:extLst>
                  <a:ext uri="{0D108BD9-81ED-4DB2-BD59-A6C34878D82A}">
                    <a16:rowId xmlns:a16="http://schemas.microsoft.com/office/drawing/2014/main" val="10003"/>
                  </a:ext>
                </a:extLst>
              </a:tr>
              <a:tr h="370840">
                <a:tc>
                  <a:txBody>
                    <a:bodyPr/>
                    <a:lstStyle/>
                    <a:p>
                      <a:r>
                        <a:rPr lang="en-US" sz="1600" dirty="0"/>
                        <a:t>This subject combines a good amount of practical and theoretical learning. There is an emphasis on obtaining knowledge and applications in clinical practice. Our consultants and clinical demonstrators are a highlight of this program.  </a:t>
                      </a:r>
                    </a:p>
                  </a:txBody>
                  <a:tcPr/>
                </a:tc>
                <a:extLst>
                  <a:ext uri="{0D108BD9-81ED-4DB2-BD59-A6C34878D82A}">
                    <a16:rowId xmlns:a16="http://schemas.microsoft.com/office/drawing/2014/main" val="10004"/>
                  </a:ext>
                </a:extLst>
              </a:tr>
              <a:tr h="370840">
                <a:tc>
                  <a:txBody>
                    <a:bodyPr/>
                    <a:lstStyle/>
                    <a:p>
                      <a:r>
                        <a:rPr lang="en-US" sz="1600" dirty="0"/>
                        <a:t>Cohesive group which fosters a good and supportive learning environment. Case presentations are really helpful to learn about other students clinical experience. Seminar structure is great and encourages regular review of the literature</a:t>
                      </a:r>
                    </a:p>
                  </a:txBody>
                  <a:tcPr/>
                </a:tc>
                <a:extLst>
                  <a:ext uri="{0D108BD9-81ED-4DB2-BD59-A6C34878D82A}">
                    <a16:rowId xmlns:a16="http://schemas.microsoft.com/office/drawing/2014/main" val="10005"/>
                  </a:ext>
                </a:extLst>
              </a:tr>
              <a:tr h="370840">
                <a:tc>
                  <a:txBody>
                    <a:bodyPr/>
                    <a:lstStyle/>
                    <a:p>
                      <a:r>
                        <a:rPr lang="en-US" sz="1600" dirty="0"/>
                        <a:t>Clinically, GA - it is the most beneficial aspect to our learning as we get practical experience in an environment where you can talk through a procedure with a consultant by your side. For didactics - I enjoyed the case presentation assignments as they provide the opportunity to thoroughly learn a topic and investigate the current literature.</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Q58 - What aspects of this subject do you believe should be improved?</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53136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aspects of this subject do you believe should be improved?</a:t>
                      </a:r>
                    </a:p>
                  </a:txBody>
                  <a:tcPr/>
                </a:tc>
                <a:extLst>
                  <a:ext uri="{0D108BD9-81ED-4DB2-BD59-A6C34878D82A}">
                    <a16:rowId xmlns:a16="http://schemas.microsoft.com/office/drawing/2014/main" val="10000"/>
                  </a:ext>
                </a:extLst>
              </a:tr>
              <a:tr h="370840">
                <a:tc>
                  <a:txBody>
                    <a:bodyPr/>
                    <a:lstStyle/>
                    <a:p>
                      <a:r>
                        <a:rPr lang="en-US" sz="1600" dirty="0"/>
                        <a:t>If there are readings, it would be great if they could be sent well in advance. </a:t>
                      </a:r>
                    </a:p>
                  </a:txBody>
                  <a:tcPr/>
                </a:tc>
                <a:extLst>
                  <a:ext uri="{0D108BD9-81ED-4DB2-BD59-A6C34878D82A}">
                    <a16:rowId xmlns:a16="http://schemas.microsoft.com/office/drawing/2014/main" val="10001"/>
                  </a:ext>
                </a:extLst>
              </a:tr>
              <a:tr h="370840">
                <a:tc>
                  <a:txBody>
                    <a:bodyPr/>
                    <a:lstStyle/>
                    <a:p>
                      <a:r>
                        <a:rPr lang="en-US" sz="1600" dirty="0"/>
                        <a:t>I think giving one paper &amp; getting everyone to critically appraise it would work well, I still feel like I don’t know the strengths &amp; weaknesses of a paper well. Is this something Mihiri would be willing to lead. Some presentations are too long - and no one steps in to say 5 mins left or whatever. Please get them to stick to time, it’s important we know how to present well with the time given to us.  I liked it when we are able to ask questions through the presentation instead of wait until the end. When people are presenting please remind others to listen, not be madly typing away on their laptops</a:t>
                      </a:r>
                    </a:p>
                  </a:txBody>
                  <a:tcPr/>
                </a:tc>
                <a:extLst>
                  <a:ext uri="{0D108BD9-81ED-4DB2-BD59-A6C34878D82A}">
                    <a16:rowId xmlns:a16="http://schemas.microsoft.com/office/drawing/2014/main" val="10002"/>
                  </a:ext>
                </a:extLst>
              </a:tr>
              <a:tr h="370840">
                <a:tc>
                  <a:txBody>
                    <a:bodyPr/>
                    <a:lstStyle/>
                    <a:p>
                      <a:r>
                        <a:rPr lang="en-US" sz="1600" dirty="0"/>
                        <a:t>RDHM GA lists to be grouped as a block - for continuity ie once/twice a week for an entire month at a time. This allows for the student to practice deficiencies identified by the consultant within that same month. First aid training  (Paeds specific ? )to be integrated into DCD course ie during orientation? CBCT interpretation course. Exposure to Zirconia crown preparations - may be integrated into private practice sessions. Some basic knowledge around Temporary anchorage devices, basics of implant placement - Orthodontists may want our assistance and for us to place TADs whilst patients are under GA. Incorporation of communication skills courses - ie managing children with procedural anxiety.  Wednesday morning introduction to RCH sessions for first years - may be more beneficial to be introduced with a greater mixture of clinicians and consultants, perhaps one week at a time with a period of shadowing upper years, like how RDHM GA was introduced. </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Q58 - What aspects of this subject do you believe should be improved?</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19354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aspects of this subject do you believe should be improved?</a:t>
                      </a:r>
                    </a:p>
                  </a:txBody>
                  <a:tcPr/>
                </a:tc>
                <a:extLst>
                  <a:ext uri="{0D108BD9-81ED-4DB2-BD59-A6C34878D82A}">
                    <a16:rowId xmlns:a16="http://schemas.microsoft.com/office/drawing/2014/main" val="10000"/>
                  </a:ext>
                </a:extLst>
              </a:tr>
              <a:tr h="370840">
                <a:tc>
                  <a:txBody>
                    <a:bodyPr/>
                    <a:lstStyle/>
                    <a:p>
                      <a:r>
                        <a:rPr lang="en-US" sz="1600" dirty="0"/>
                        <a:t>Did not find the orthodontic reading resources this year were very helpful. </a:t>
                      </a:r>
                    </a:p>
                  </a:txBody>
                  <a:tcPr/>
                </a:tc>
                <a:extLst>
                  <a:ext uri="{0D108BD9-81ED-4DB2-BD59-A6C34878D82A}">
                    <a16:rowId xmlns:a16="http://schemas.microsoft.com/office/drawing/2014/main" val="10001"/>
                  </a:ext>
                </a:extLst>
              </a:tr>
              <a:tr h="370840">
                <a:tc>
                  <a:txBody>
                    <a:bodyPr/>
                    <a:lstStyle/>
                    <a:p>
                      <a:r>
                        <a:rPr lang="en-US" sz="1600" dirty="0"/>
                        <a:t>Increased access to GA and nitrous oxide inhalation sedation would be of great value. </a:t>
                      </a:r>
                    </a:p>
                  </a:txBody>
                  <a:tcPr/>
                </a:tc>
                <a:extLst>
                  <a:ext uri="{0D108BD9-81ED-4DB2-BD59-A6C34878D82A}">
                    <a16:rowId xmlns:a16="http://schemas.microsoft.com/office/drawing/2014/main" val="10002"/>
                  </a:ext>
                </a:extLst>
              </a:tr>
              <a:tr h="370840">
                <a:tc>
                  <a:txBody>
                    <a:bodyPr/>
                    <a:lstStyle/>
                    <a:p>
                      <a:r>
                        <a:rPr lang="en-US" sz="1600" dirty="0"/>
                        <a:t>More GA time if possible. The opportunity to assist consultants for their own clinical work (restorative and surgical) as I feel I could learn a lot from observing their patient management techniques.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60 - How satisfied are you with the Research Component of this course?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2200" dirty="0"/>
              <a:t>Q61 - What are the best aspects of the research component?</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30124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are the best aspects of the research component?</a:t>
                      </a:r>
                    </a:p>
                  </a:txBody>
                  <a:tcPr/>
                </a:tc>
                <a:extLst>
                  <a:ext uri="{0D108BD9-81ED-4DB2-BD59-A6C34878D82A}">
                    <a16:rowId xmlns:a16="http://schemas.microsoft.com/office/drawing/2014/main" val="10000"/>
                  </a:ext>
                </a:extLst>
              </a:tr>
              <a:tr h="370840">
                <a:tc>
                  <a:txBody>
                    <a:bodyPr/>
                    <a:lstStyle/>
                    <a:p>
                      <a:r>
                        <a:rPr lang="en-US" sz="1600" dirty="0"/>
                        <a:t>Dr Silva is the best part of the research component as she is an excellent supervisor and guide towards what needs to be done </a:t>
                      </a:r>
                    </a:p>
                  </a:txBody>
                  <a:tcPr/>
                </a:tc>
                <a:extLst>
                  <a:ext uri="{0D108BD9-81ED-4DB2-BD59-A6C34878D82A}">
                    <a16:rowId xmlns:a16="http://schemas.microsoft.com/office/drawing/2014/main" val="10001"/>
                  </a:ext>
                </a:extLst>
              </a:tr>
              <a:tr h="370840">
                <a:tc>
                  <a:txBody>
                    <a:bodyPr/>
                    <a:lstStyle/>
                    <a:p>
                      <a:r>
                        <a:rPr lang="en-US" sz="1600" dirty="0"/>
                        <a:t>Didn’t feel like I learned much or contributed much</a:t>
                      </a:r>
                    </a:p>
                  </a:txBody>
                  <a:tcPr/>
                </a:tc>
                <a:extLst>
                  <a:ext uri="{0D108BD9-81ED-4DB2-BD59-A6C34878D82A}">
                    <a16:rowId xmlns:a16="http://schemas.microsoft.com/office/drawing/2014/main" val="10002"/>
                  </a:ext>
                </a:extLst>
              </a:tr>
              <a:tr h="370840">
                <a:tc>
                  <a:txBody>
                    <a:bodyPr/>
                    <a:lstStyle/>
                    <a:p>
                      <a:r>
                        <a:rPr lang="en-US" sz="1600" dirty="0"/>
                        <a:t>Dr Mihiri is an excellent supervisor. </a:t>
                      </a:r>
                    </a:p>
                  </a:txBody>
                  <a:tcPr/>
                </a:tc>
                <a:extLst>
                  <a:ext uri="{0D108BD9-81ED-4DB2-BD59-A6C34878D82A}">
                    <a16:rowId xmlns:a16="http://schemas.microsoft.com/office/drawing/2014/main" val="10003"/>
                  </a:ext>
                </a:extLst>
              </a:tr>
              <a:tr h="370840">
                <a:tc>
                  <a:txBody>
                    <a:bodyPr/>
                    <a:lstStyle/>
                    <a:p>
                      <a:r>
                        <a:rPr lang="en-US" sz="1600" dirty="0"/>
                        <a:t>Dr Silva was invaluable in guiding us through the research component. Lectures provided a nice introduction to research.</a:t>
                      </a:r>
                    </a:p>
                  </a:txBody>
                  <a:tcPr/>
                </a:tc>
                <a:extLst>
                  <a:ext uri="{0D108BD9-81ED-4DB2-BD59-A6C34878D82A}">
                    <a16:rowId xmlns:a16="http://schemas.microsoft.com/office/drawing/2014/main" val="10004"/>
                  </a:ext>
                </a:extLst>
              </a:tr>
              <a:tr h="370840">
                <a:tc>
                  <a:txBody>
                    <a:bodyPr/>
                    <a:lstStyle/>
                    <a:p>
                      <a:r>
                        <a:rPr lang="en-US" sz="1600" dirty="0"/>
                        <a:t>Mihiri is great</a:t>
                      </a:r>
                    </a:p>
                  </a:txBody>
                  <a:tcPr/>
                </a:tc>
                <a:extLst>
                  <a:ext uri="{0D108BD9-81ED-4DB2-BD59-A6C34878D82A}">
                    <a16:rowId xmlns:a16="http://schemas.microsoft.com/office/drawing/2014/main" val="10005"/>
                  </a:ext>
                </a:extLst>
              </a:tr>
              <a:tr h="370840">
                <a:tc>
                  <a:txBody>
                    <a:bodyPr/>
                    <a:lstStyle/>
                    <a:p>
                      <a:r>
                        <a:rPr lang="en-US" sz="1600" dirty="0"/>
                        <a:t>The support from my supervisors.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Q62 - What aspects of the research component do you believe should be improved?</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50088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aspects of the research component do you believe should be improved?</a:t>
                      </a:r>
                    </a:p>
                  </a:txBody>
                  <a:tcPr/>
                </a:tc>
                <a:extLst>
                  <a:ext uri="{0D108BD9-81ED-4DB2-BD59-A6C34878D82A}">
                    <a16:rowId xmlns:a16="http://schemas.microsoft.com/office/drawing/2014/main" val="10000"/>
                  </a:ext>
                </a:extLst>
              </a:tr>
              <a:tr h="370840">
                <a:tc>
                  <a:txBody>
                    <a:bodyPr/>
                    <a:lstStyle/>
                    <a:p>
                      <a:r>
                        <a:rPr lang="en-US" sz="1600" dirty="0"/>
                        <a:t>None</a:t>
                      </a:r>
                    </a:p>
                  </a:txBody>
                  <a:tcPr/>
                </a:tc>
                <a:extLst>
                  <a:ext uri="{0D108BD9-81ED-4DB2-BD59-A6C34878D82A}">
                    <a16:rowId xmlns:a16="http://schemas.microsoft.com/office/drawing/2014/main" val="10001"/>
                  </a:ext>
                </a:extLst>
              </a:tr>
              <a:tr h="370840">
                <a:tc>
                  <a:txBody>
                    <a:bodyPr/>
                    <a:lstStyle/>
                    <a:p>
                      <a:r>
                        <a:rPr lang="en-US" sz="1600" dirty="0"/>
                        <a:t>Focus on critical appraisal of papers so we can read a paper and weigh up if it was done correctly, however I really think someone with a research background needs to head this up. It’s so important as specialists to be able to critically investigate new claims that are coming out so it can inform our practice. This would be much more useful than spending 6 months submitting and resubmitting ethics…which teaches me nothing useful </a:t>
                      </a:r>
                    </a:p>
                  </a:txBody>
                  <a:tcPr/>
                </a:tc>
                <a:extLst>
                  <a:ext uri="{0D108BD9-81ED-4DB2-BD59-A6C34878D82A}">
                    <a16:rowId xmlns:a16="http://schemas.microsoft.com/office/drawing/2014/main" val="10002"/>
                  </a:ext>
                </a:extLst>
              </a:tr>
              <a:tr h="370840">
                <a:tc>
                  <a:txBody>
                    <a:bodyPr/>
                    <a:lstStyle/>
                    <a:p>
                      <a:r>
                        <a:rPr lang="en-US" sz="1600" dirty="0"/>
                        <a:t>Paediatric Dentistry post-grads seem to be much more prepared than other specialties. However, it is clear that there is a lack of consistency across the specialties and the DCD research requirements. Classmates found it difficult to adapt the research subjects requirements to the existing progress they had made ie to condense a Scoping Review progress into 4000 word requirement for the research course is counter intuitive and a waste of time. There needs to be exceptions for these cases.  </a:t>
                      </a:r>
                    </a:p>
                  </a:txBody>
                  <a:tcPr/>
                </a:tc>
                <a:extLst>
                  <a:ext uri="{0D108BD9-81ED-4DB2-BD59-A6C34878D82A}">
                    <a16:rowId xmlns:a16="http://schemas.microsoft.com/office/drawing/2014/main" val="10003"/>
                  </a:ext>
                </a:extLst>
              </a:tr>
              <a:tr h="370840">
                <a:tc>
                  <a:txBody>
                    <a:bodyPr/>
                    <a:lstStyle/>
                    <a:p>
                      <a:r>
                        <a:rPr lang="en-US" sz="1600" dirty="0"/>
                        <a:t>Research can often be challenging, so it would be helpful to have more regular group sessions that foster discussions among students. These sessions could allow us to share challenges we’re facing in our projects, exchange knowledge, and learn from one another.</a:t>
                      </a:r>
                    </a:p>
                  </a:txBody>
                  <a:tcPr/>
                </a:tc>
                <a:extLst>
                  <a:ext uri="{0D108BD9-81ED-4DB2-BD59-A6C34878D82A}">
                    <a16:rowId xmlns:a16="http://schemas.microsoft.com/office/drawing/2014/main" val="10004"/>
                  </a:ext>
                </a:extLst>
              </a:tr>
              <a:tr h="370840">
                <a:tc>
                  <a:txBody>
                    <a:bodyPr/>
                    <a:lstStyle/>
                    <a:p>
                      <a:r>
                        <a:rPr lang="en-US" sz="1600" dirty="0"/>
                        <a:t>Organisation of assessment tasks could have been improved. A few assessment tasks did not have rubrics provided or clear descriptions of what the task itself was. </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Q62 - What aspects of the research component do you believe should be improved?</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177292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What aspects of the research component do you believe should be improved?</a:t>
                      </a:r>
                    </a:p>
                  </a:txBody>
                  <a:tcPr/>
                </a:tc>
                <a:extLst>
                  <a:ext uri="{0D108BD9-81ED-4DB2-BD59-A6C34878D82A}">
                    <a16:rowId xmlns:a16="http://schemas.microsoft.com/office/drawing/2014/main" val="10000"/>
                  </a:ext>
                </a:extLst>
              </a:tr>
              <a:tr h="370840">
                <a:tc>
                  <a:txBody>
                    <a:bodyPr/>
                    <a:lstStyle/>
                    <a:p>
                      <a:r>
                        <a:rPr lang="en-US" sz="1600" dirty="0"/>
                        <a:t>Not all the assessments were relevant for the stage of the research. Biostats course was quite complicated even though it was for beginners. Research lectures were not always that useful</a:t>
                      </a:r>
                    </a:p>
                  </a:txBody>
                  <a:tcPr/>
                </a:tc>
                <a:extLst>
                  <a:ext uri="{0D108BD9-81ED-4DB2-BD59-A6C34878D82A}">
                    <a16:rowId xmlns:a16="http://schemas.microsoft.com/office/drawing/2014/main" val="10001"/>
                  </a:ext>
                </a:extLst>
              </a:tr>
              <a:tr h="370840">
                <a:tc>
                  <a:txBody>
                    <a:bodyPr/>
                    <a:lstStyle/>
                    <a:p>
                      <a:r>
                        <a:rPr lang="en-US" sz="1600" dirty="0"/>
                        <a:t>The research course itself felt like a chore rather than assisting me with my thesis. My time would have been better spent completing things one-on-one with my supervisor rather than completing assignments for the research course.</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Q63 - How satisfied are you with your decision to become a paediatric dental specialist</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Q64 - How likely would you be to recommend this program to interested colleagues</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00000" y="140000"/>
            <a:ext cx="8229600" cy="369332"/>
          </a:xfrm>
          <a:prstGeom prst="rect">
            <a:avLst/>
          </a:prstGeom>
          <a:noFill/>
        </p:spPr>
        <p:txBody>
          <a:bodyPr wrap="square" rtlCol="0"/>
          <a:lstStyle/>
          <a:p>
            <a:r>
              <a:rPr lang="en-US" sz="2200" dirty="0"/>
              <a:t>Q65 - How satisfied are you with your overall experience at the University of Melbourne</a:t>
            </a:r>
          </a:p>
        </p:txBody>
      </p:sp>
      <p:pic>
        <p:nvPicPr>
          <p:cNvPr id="3" name="Object 2"/>
          <p:cNvPicPr>
            <a:picLocks noChangeAspect="1"/>
          </p:cNvPicPr>
          <p:nvPr/>
        </p:nvPicPr>
        <p:blipFill>
          <a:blip r:embed="rId2" cstate="print"/>
          <a:stretch>
            <a:fillRect/>
          </a:stretch>
        </p:blipFill>
        <p:spPr>
          <a:xfrm>
            <a:off x="572000" y="1200000"/>
            <a:ext cx="8000000" cy="5000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Q66 - Please feel free to provide further feedback on any aspect of the program</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738124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feel free to provide further feedback on any aspect of the program</a:t>
                      </a:r>
                    </a:p>
                  </a:txBody>
                  <a:tcPr/>
                </a:tc>
                <a:extLst>
                  <a:ext uri="{0D108BD9-81ED-4DB2-BD59-A6C34878D82A}">
                    <a16:rowId xmlns:a16="http://schemas.microsoft.com/office/drawing/2014/main" val="10000"/>
                  </a:ext>
                </a:extLst>
              </a:tr>
              <a:tr h="370840">
                <a:tc>
                  <a:txBody>
                    <a:bodyPr/>
                    <a:lstStyle/>
                    <a:p>
                      <a:r>
                        <a:rPr lang="en-US" sz="1600" dirty="0"/>
                        <a:t>I feel disappointed that a lot of clinical learning will need to be done after graduation I.e. Graduating having only done one pulpotomy or one surgical removal of a supernumerary etc. I feel disappointed that there is no opportunity to learn zirconia crowns, even on fake models, as we are meant to be learning 'up-to-date' skills and techniques. I feel disappointed that I won't feel prepared clinically for private practice when I graduate but have accepted this. Overall, it's disappointing as this course is over $150,000 and many of us have put our lives on 'hold'/relocated to pursue this degree at this University. Also, I feel burnt out from doing on call, particularly as there was a period of 7 months (April-October 2024) when there was only FOUR postgraduate students allowed to do on call (2x 3rd years, 2x 2nd years). This was extremely tiring as there was minimal help from RCH staff for on call, despite them voicing they wanted to help by doing some additional days, however when asked, they did not offer. I understand that on call is part of our training, but normally there are SIX postgrads doing on call, and during that 7 month period when there was only 4 of us - I felt tired and burnt out during this period and felt there was no acknowledgement of this, just that it is expected of us. However, the people in the course, including the staff (Drs Cheney, Kilpatrick, Andreasen-Cocker, Pandey) - I have felt they genuinely care about our journey to become paediatric dentists and to be able to think for ourselves. I also feels grateful that the majority of this current cohort are kind and are team players. I feel that I have made some friends for life. </a:t>
                      </a:r>
                    </a:p>
                  </a:txBody>
                  <a:tcPr/>
                </a:tc>
                <a:extLst>
                  <a:ext uri="{0D108BD9-81ED-4DB2-BD59-A6C34878D82A}">
                    <a16:rowId xmlns:a16="http://schemas.microsoft.com/office/drawing/2014/main" val="10001"/>
                  </a:ext>
                </a:extLst>
              </a:tr>
              <a:tr h="370840">
                <a:tc>
                  <a:txBody>
                    <a:bodyPr/>
                    <a:lstStyle/>
                    <a:p>
                      <a:r>
                        <a:rPr lang="en-US" sz="1600" dirty="0"/>
                        <a:t>I feel we are extremely unprepared for private practice, where parents are very interested in saving teeth &amp; white crowns. There needs to be provision to learn and practice these skills because this is what people want in the real world. I don’t feel it’s acceptable to say it’s public practice therefore we can’t do a, b and c. Maybe put some of the onus back on us so we also take responsibility for the case and need to follow up. We need mu ch more experience with pulpotomies, pulpectomies, space maintainers, white crowns because we’re going to get out and have no idea how to execute these skills proficiently. There needs to be teaching cases which allow this. I would expect more from my specialist paediatric dentist as a parent other than extraction. If consultants are not interested in teaching please don’t make them, it is detrimental to my learning, or atleast provide them with some sort of training as to how to teach properly </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Q66 - Please feel free to provide further feedback on any aspect of the program</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543052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feel free to provide further feedback on any aspect of the program</a:t>
                      </a:r>
                    </a:p>
                  </a:txBody>
                  <a:tcPr/>
                </a:tc>
                <a:extLst>
                  <a:ext uri="{0D108BD9-81ED-4DB2-BD59-A6C34878D82A}">
                    <a16:rowId xmlns:a16="http://schemas.microsoft.com/office/drawing/2014/main" val="10000"/>
                  </a:ext>
                </a:extLst>
              </a:tr>
              <a:tr h="370840">
                <a:tc>
                  <a:txBody>
                    <a:bodyPr/>
                    <a:lstStyle/>
                    <a:p>
                      <a:r>
                        <a:rPr lang="en-US" sz="1600" dirty="0"/>
                        <a:t>Administrative support at RDHM needs to be improved - it is futile for PLOs to be notifying the clinician to re-book when families have contacted the hospital to re-schedule straightforward recall appointments clearly identified in the patient's file. If it is not clear in the notes - definitely fair to notify the clinician.  Remote access to Titanium would be hugely beneficial for all students and to improve efficiency and preparedness for cases/case presentations. This will assist with administrative burden which is arguably the most low yield exercise of the RDHM experience. Additional staff to facilitate more nitrous units must be a priority for the Paediatric Dentistry department. </a:t>
                      </a:r>
                    </a:p>
                  </a:txBody>
                  <a:tcPr/>
                </a:tc>
                <a:extLst>
                  <a:ext uri="{0D108BD9-81ED-4DB2-BD59-A6C34878D82A}">
                    <a16:rowId xmlns:a16="http://schemas.microsoft.com/office/drawing/2014/main" val="10001"/>
                  </a:ext>
                </a:extLst>
              </a:tr>
              <a:tr h="370840">
                <a:tc>
                  <a:txBody>
                    <a:bodyPr/>
                    <a:lstStyle/>
                    <a:p>
                      <a:r>
                        <a:rPr lang="en-US" sz="1600" dirty="0"/>
                        <a:t>I’ve thoroughly enjoyed being part of a fantastic group and have found Dr. Wendy, Dr. Nicky, the RCH staff, Dr. Dan, and Dr. Maria to be incredibly supportive and inspiring. However, the administration staff at the University have made the course more challenging than necessary.  One suggestion for improvement would be to group GA sessions (e.g., three consecutive sessions per consultant) to allow us time to learn from a consultant’s specific teaching style and techniques, implement their guidance, and refine our skills before transitioning to another consultant with a different approach. This structure would help us process and adapt to individual techniques more effectively while also identifying what works best for us.  I did not find the RCH GA sessions particularly helpful this term and believe fewer RCH GA sessions should be included in the schedule.  Finally, I want to give special recognition to Dr. Kris, who stands out as one of the most supportive and non-judgmental consultants, not mentioned in this form. He consistently provides impressive, constructive feedback in every session and has been very committed to our learning.</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txBox="1"/>
          <p:nvPr/>
        </p:nvSpPr>
        <p:spPr>
          <a:xfrm>
            <a:off x="270000" y="140000"/>
            <a:ext cx="8229600" cy="369332"/>
          </a:xfrm>
          <a:prstGeom prst="rect">
            <a:avLst/>
          </a:prstGeom>
          <a:noFill/>
        </p:spPr>
        <p:txBody>
          <a:bodyPr wrap="square" rtlCol="0"/>
          <a:lstStyle/>
          <a:p>
            <a:r>
              <a:rPr lang="en-US" sz="1600" dirty="0"/>
              <a:t>Q66 - Please feel free to provide further feedback on any aspect of the program</a:t>
            </a:r>
          </a:p>
        </p:txBody>
      </p:sp>
      <p:graphicFrame>
        <p:nvGraphicFramePr>
          <p:cNvPr id="6" name="Table 5"/>
          <p:cNvGraphicFramePr>
            <a:graphicFrameLocks noGrp="1"/>
          </p:cNvGraphicFramePr>
          <p:nvPr>
            <p:extLst>
              <p:ext uri="{D42A27DB-BD31-4B8C-83A1-F6EECF244321}">
                <p14:modId xmlns:p14="http://schemas.microsoft.com/office/powerpoint/2010/main" val="1579011935"/>
              </p:ext>
            </p:extLst>
          </p:nvPr>
        </p:nvGraphicFramePr>
        <p:xfrm>
          <a:off x="354000" y="1100000"/>
          <a:ext cx="8349264" cy="3815080"/>
        </p:xfrm>
        <a:graphic>
          <a:graphicData uri="http://schemas.openxmlformats.org/drawingml/2006/table">
            <a:tbl>
              <a:tblPr firstRow="1" bandRow="1">
                <a:tableStyleId>{69012ECD-51FC-41F1-AA8D-1B2483CD663E}</a:tableStyleId>
              </a:tblPr>
              <a:tblGrid>
                <a:gridCol w="8349264">
                  <a:extLst>
                    <a:ext uri="{9D8B030D-6E8A-4147-A177-3AD203B41FA5}">
                      <a16:colId xmlns:a16="http://schemas.microsoft.com/office/drawing/2014/main" val="20000"/>
                    </a:ext>
                  </a:extLst>
                </a:gridCol>
              </a:tblGrid>
              <a:tr h="370840">
                <a:tc>
                  <a:txBody>
                    <a:bodyPr/>
                    <a:lstStyle/>
                    <a:p>
                      <a:r>
                        <a:rPr lang="en-US" sz="1600" dirty="0"/>
                        <a:t>Please feel free to provide further feedback on any aspect of the program</a:t>
                      </a:r>
                    </a:p>
                  </a:txBody>
                  <a:tcPr/>
                </a:tc>
                <a:extLst>
                  <a:ext uri="{0D108BD9-81ED-4DB2-BD59-A6C34878D82A}">
                    <a16:rowId xmlns:a16="http://schemas.microsoft.com/office/drawing/2014/main" val="10000"/>
                  </a:ext>
                </a:extLst>
              </a:tr>
              <a:tr h="370840">
                <a:tc>
                  <a:txBody>
                    <a:bodyPr/>
                    <a:lstStyle/>
                    <a:p>
                      <a:r>
                        <a:rPr lang="en-US" sz="1600" dirty="0"/>
                        <a:t>Given the University of Melbourne financially supports it's postgraduates the least compared to its other Australian counterparts, focus needs to be placed on retaining consultants or teaching staff (they are the reason we select this program) and/or discussions with DHSV who fail to recognise us as employees.</a:t>
                      </a:r>
                    </a:p>
                  </a:txBody>
                  <a:tcPr/>
                </a:tc>
                <a:extLst>
                  <a:ext uri="{0D108BD9-81ED-4DB2-BD59-A6C34878D82A}">
                    <a16:rowId xmlns:a16="http://schemas.microsoft.com/office/drawing/2014/main" val="10001"/>
                  </a:ext>
                </a:extLst>
              </a:tr>
              <a:tr h="370840">
                <a:tc>
                  <a:txBody>
                    <a:bodyPr/>
                    <a:lstStyle/>
                    <a:p>
                      <a:r>
                        <a:rPr lang="en-US" sz="1600" dirty="0"/>
                        <a:t>MDC is good for the first 6 months as it gives good 2:1 support for treatment planning and presenting to the consultant. It does not feel as productive in 2nd semester especially as there are often not many patients. Feedback 4x year would be helpful for progress reports (in a less formal manner than at the end of each semester - like what Nicky or Kris do with things that are going well and things to improve on)</a:t>
                      </a:r>
                    </a:p>
                  </a:txBody>
                  <a:tcPr/>
                </a:tc>
                <a:extLst>
                  <a:ext uri="{0D108BD9-81ED-4DB2-BD59-A6C34878D82A}">
                    <a16:rowId xmlns:a16="http://schemas.microsoft.com/office/drawing/2014/main" val="10002"/>
                  </a:ext>
                </a:extLst>
              </a:tr>
              <a:tr h="370840">
                <a:tc>
                  <a:txBody>
                    <a:bodyPr/>
                    <a:lstStyle/>
                    <a:p>
                      <a:r>
                        <a:rPr lang="en-US" sz="1600" dirty="0"/>
                        <a:t>It would be wonderful to have more comprehensive exposure to paediatric dentistry procedures (eg. pulpotomies, strip crowns, zirconia crowns, space maintainers). I know Wendy and Dan are doing their best to facilitate this, but if the University of Melbourne could provide further support this would allow us to graduate as well-rounded clinicians.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
        <a:font script="Hang" typeface="?? ??"/>
        <a:font script="Hans" typeface="??"/>
        <a:font script="Hant" typeface="????"/>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
        <a:font script="Hang" typeface="?? ??"/>
        <a:font script="Hans" typeface="??"/>
        <a:font script="Hant" typeface="????"/>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6310</Words>
  <Application>Microsoft Macintosh PowerPoint</Application>
  <PresentationFormat>On-screen Show (4:3)</PresentationFormat>
  <Paragraphs>240</Paragraphs>
  <Slides>76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Aptos</vt:lpstr>
      <vt:lpstr>Arial</vt:lpstr>
      <vt:lpstr>Calibri</vt:lpstr>
      <vt:lpstr>Helvetica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officegen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officegen</dc:creator>
  <cp:lastModifiedBy>Wendy Cheney</cp:lastModifiedBy>
  <cp:revision>3</cp:revision>
  <dcterms:created xsi:type="dcterms:W3CDTF">2025-01-07T02:13:47Z</dcterms:created>
  <dcterms:modified xsi:type="dcterms:W3CDTF">2025-08-03T00:45:16Z</dcterms:modified>
</cp:coreProperties>
</file>